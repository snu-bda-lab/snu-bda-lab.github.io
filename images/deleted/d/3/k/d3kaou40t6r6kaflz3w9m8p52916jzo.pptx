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8" r:id="rId2"/>
    <p:sldId id="266" r:id="rId3"/>
    <p:sldId id="271" r:id="rId4"/>
    <p:sldId id="276" r:id="rId5"/>
    <p:sldId id="267" r:id="rId6"/>
    <p:sldId id="272" r:id="rId7"/>
    <p:sldId id="268" r:id="rId8"/>
    <p:sldId id="273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69" r:id="rId19"/>
    <p:sldId id="274" r:id="rId20"/>
    <p:sldId id="286" r:id="rId21"/>
    <p:sldId id="287" r:id="rId22"/>
    <p:sldId id="288" r:id="rId23"/>
    <p:sldId id="289" r:id="rId24"/>
    <p:sldId id="270" r:id="rId25"/>
    <p:sldId id="275" r:id="rId26"/>
    <p:sldId id="265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7" autoAdjust="0"/>
    <p:restoredTop sz="92108" autoAdjust="0"/>
  </p:normalViewPr>
  <p:slideViewPr>
    <p:cSldViewPr>
      <p:cViewPr>
        <p:scale>
          <a:sx n="100" d="100"/>
          <a:sy n="100" d="100"/>
        </p:scale>
        <p:origin x="354" y="6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2130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CB361-3D4A-4F34-B15F-E155E4F637E1}" type="datetimeFigureOut">
              <a:rPr lang="ko-KR" altLang="en-US" smtClean="0"/>
              <a:pPr/>
              <a:t>2010-10-08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85ECF-8581-44AE-9CEB-464E4EBC46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16F53-3723-4E20-8B48-55D705579F0E}" type="datetimeFigureOut">
              <a:rPr lang="ko-KR" altLang="en-US" smtClean="0"/>
              <a:pPr/>
              <a:t>2010-10-08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915CE-DEBD-4A47-BF96-224F81E542F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14438" y="214313"/>
            <a:ext cx="4572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E1F218CC-981A-4E1A-BC31-F6D8E5B0BA02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37C969-CD8F-4690-B14C-22777E8EDB27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857364"/>
            <a:ext cx="7772400" cy="1470025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92939" y="3571876"/>
            <a:ext cx="7758122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14348" y="3428206"/>
            <a:ext cx="7715304" cy="15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 descr="IDB-bluelogo(shadow)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353464" y="6286520"/>
            <a:ext cx="719130" cy="48805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1448" y="142860"/>
            <a:ext cx="8801104" cy="785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1448" y="1071546"/>
            <a:ext cx="8801104" cy="542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250529" y="6572272"/>
            <a:ext cx="642942" cy="214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Corbel" pitchFamily="34" charset="0"/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>
          <a:solidFill>
            <a:schemeClr val="tx1"/>
          </a:solidFill>
          <a:latin typeface="Corbe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rgbClr val="C0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Corbel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C00000"/>
        </a:buClr>
        <a:buFont typeface="Corbel" pitchFamily="34" charset="0"/>
        <a:buChar char="–"/>
        <a:defRPr sz="2000" kern="1200">
          <a:solidFill>
            <a:schemeClr val="tx1"/>
          </a:solidFill>
          <a:latin typeface="Corbel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C00000"/>
        </a:buClr>
        <a:buFont typeface="Wingdings" pitchFamily="2" charset="2"/>
        <a:buChar char="§"/>
        <a:defRPr sz="1800" kern="1200">
          <a:solidFill>
            <a:schemeClr val="tx1"/>
          </a:solidFill>
          <a:latin typeface="Corbel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C00000"/>
        </a:buClr>
        <a:buFont typeface="Corbel" pitchFamily="34" charset="0"/>
        <a:buChar char="–"/>
        <a:defRPr sz="1600" kern="1200">
          <a:solidFill>
            <a:schemeClr val="tx1"/>
          </a:solidFill>
          <a:latin typeface="Corbel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C00000"/>
        </a:buClr>
        <a:buFont typeface="Wingdings" pitchFamily="2" charset="2"/>
        <a:buChar char="§"/>
        <a:defRPr sz="1600" kern="1200">
          <a:solidFill>
            <a:schemeClr val="tx1"/>
          </a:solidFill>
          <a:latin typeface="Corbe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The Art of Tagging: </a:t>
            </a:r>
            <a:br>
              <a:rPr lang="en-US" altLang="ko-KR" dirty="0" smtClean="0"/>
            </a:br>
            <a:r>
              <a:rPr lang="en-US" altLang="ko-KR" dirty="0" smtClean="0"/>
              <a:t>Measuring the Quality of Tags</a:t>
            </a:r>
            <a:endParaRPr lang="ko-KR" altLang="en-US" sz="2400" dirty="0"/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692939" y="3571876"/>
            <a:ext cx="7758122" cy="2857520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R. </a:t>
            </a:r>
            <a:r>
              <a:rPr lang="en-US" altLang="ko-KR" dirty="0" err="1" smtClean="0"/>
              <a:t>Krestel</a:t>
            </a:r>
            <a:r>
              <a:rPr lang="en-US" altLang="ko-KR" dirty="0" smtClean="0"/>
              <a:t> &amp; L. Chen</a:t>
            </a:r>
          </a:p>
          <a:p>
            <a:r>
              <a:rPr lang="en-US" altLang="ko-KR" dirty="0" smtClean="0"/>
              <a:t>L3S Research Center, </a:t>
            </a:r>
            <a:r>
              <a:rPr lang="en-US" altLang="ko-KR" dirty="0" err="1" smtClean="0"/>
              <a:t>Universit¨at</a:t>
            </a:r>
            <a:r>
              <a:rPr lang="en-US" altLang="ko-KR" dirty="0" smtClean="0"/>
              <a:t> Hannover, Germany</a:t>
            </a:r>
          </a:p>
          <a:p>
            <a:r>
              <a:rPr lang="en-US" altLang="ko-KR" dirty="0" smtClean="0"/>
              <a:t>ASWC 2008, LNCS 5367</a:t>
            </a:r>
          </a:p>
          <a:p>
            <a:endParaRPr lang="en-US" altLang="ko-KR" dirty="0" smtClean="0"/>
          </a:p>
          <a:p>
            <a:pPr algn="r"/>
            <a:r>
              <a:rPr lang="en-US" altLang="ko-KR" dirty="0" smtClean="0"/>
              <a:t>8 October 2010</a:t>
            </a:r>
          </a:p>
          <a:p>
            <a:pPr algn="r"/>
            <a:r>
              <a:rPr lang="en-US" altLang="ko-KR" dirty="0" smtClean="0"/>
              <a:t>Presentation @ IDB Lab Seminar</a:t>
            </a:r>
          </a:p>
          <a:p>
            <a:pPr algn="r"/>
            <a:r>
              <a:rPr lang="en-US" altLang="ko-KR" dirty="0" smtClean="0"/>
              <a:t>IDB, School of CSE, SNU</a:t>
            </a:r>
          </a:p>
          <a:p>
            <a:pPr algn="r"/>
            <a:r>
              <a:rPr lang="en-US" altLang="ko-KR" dirty="0" smtClean="0"/>
              <a:t>Presented by </a:t>
            </a:r>
            <a:r>
              <a:rPr lang="en-US" altLang="ko-KR" dirty="0" err="1" smtClean="0"/>
              <a:t>Kangpyo</a:t>
            </a:r>
            <a:r>
              <a:rPr lang="en-US" altLang="ko-KR" dirty="0" smtClean="0"/>
              <a:t> Lee</a:t>
            </a:r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u="sng" dirty="0" smtClean="0">
                <a:solidFill>
                  <a:srgbClr val="C00000"/>
                </a:solidFill>
              </a:rPr>
              <a:t>Introduction</a:t>
            </a:r>
          </a:p>
          <a:p>
            <a:r>
              <a:rPr lang="en-US" altLang="ko-KR" dirty="0" smtClean="0"/>
              <a:t>Related Work</a:t>
            </a:r>
          </a:p>
          <a:p>
            <a:r>
              <a:rPr lang="en-US" altLang="ko-KR" dirty="0" smtClean="0"/>
              <a:t>Measure Tag Quality</a:t>
            </a:r>
          </a:p>
          <a:p>
            <a:r>
              <a:rPr lang="en-US" altLang="ko-KR" dirty="0" smtClean="0"/>
              <a:t>Evaluation</a:t>
            </a:r>
          </a:p>
          <a:p>
            <a:r>
              <a:rPr lang="en-US" altLang="ko-KR" dirty="0" smtClean="0"/>
              <a:t>Conclusions &amp; Future Work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Introduction 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Allowing users to freely choose tags sometimes leads to </a:t>
            </a:r>
            <a:r>
              <a:rPr lang="en-US" altLang="ko-KR" dirty="0" smtClean="0">
                <a:solidFill>
                  <a:srgbClr val="C00000"/>
                </a:solidFill>
              </a:rPr>
              <a:t>poor quality of the tag data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Ambiguity &amp; synonymy</a:t>
            </a:r>
          </a:p>
          <a:p>
            <a:pPr lvl="1"/>
            <a:r>
              <a:rPr lang="en-US" altLang="ko-KR" dirty="0" smtClean="0"/>
              <a:t>Tag spam (i.e., misleading tags generated maliciously in order to increase the visibility of some resources or simply to confuse users)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Therefore,</a:t>
            </a:r>
          </a:p>
          <a:p>
            <a:pPr lvl="1"/>
            <a:r>
              <a:rPr lang="en-US" altLang="ko-KR" dirty="0" smtClean="0"/>
              <a:t>Measuring the quality of tags is an important issue</a:t>
            </a:r>
          </a:p>
          <a:p>
            <a:pPr lvl="1"/>
            <a:r>
              <a:rPr lang="en-US" altLang="ko-KR" dirty="0" smtClean="0"/>
              <a:t>Discriminating high quality from low quality tags improves the effectiveness of different tag-based applications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Introduction (2/2)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Our objective is to assess the quality of tags assigned by users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Whether a tag is good or bad can only be assessed with respect to a particular resource</a:t>
            </a:r>
          </a:p>
          <a:p>
            <a:pPr lvl="1"/>
            <a:r>
              <a:rPr lang="en-US" altLang="ko-KR" dirty="0" smtClean="0"/>
              <a:t>Our investigation is based on the unit of a </a:t>
            </a:r>
            <a:r>
              <a:rPr lang="en-US" altLang="ko-KR" dirty="0" smtClean="0">
                <a:solidFill>
                  <a:srgbClr val="C00000"/>
                </a:solidFill>
              </a:rPr>
              <a:t>tag-resource pair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We aim to measure the quality of each individual pair of tag &amp; resource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1043608" y="4293096"/>
            <a:ext cx="1296144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Corbel" pitchFamily="34" charset="0"/>
              </a:rPr>
              <a:t>porn</a:t>
            </a:r>
            <a:endParaRPr lang="ko-KR" altLang="en-US" sz="2000" b="1" dirty="0">
              <a:latin typeface="Corbel" pitchFamily="34" charset="0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67544" y="5157192"/>
            <a:ext cx="1296144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>
                <a:latin typeface="Corbel" pitchFamily="34" charset="0"/>
              </a:rPr>
              <a:t>livecam</a:t>
            </a:r>
            <a:endParaRPr lang="ko-KR" altLang="en-US" sz="2000" b="1" dirty="0">
              <a:latin typeface="Corbel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627784" y="4581128"/>
            <a:ext cx="1296144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Corbel" pitchFamily="34" charset="0"/>
              </a:rPr>
              <a:t>sex</a:t>
            </a:r>
            <a:endParaRPr lang="ko-KR" altLang="en-US" sz="2000" b="1" dirty="0">
              <a:latin typeface="Corbel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051720" y="5229200"/>
            <a:ext cx="1296144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Corbel" pitchFamily="34" charset="0"/>
              </a:rPr>
              <a:t>adult</a:t>
            </a:r>
            <a:endParaRPr lang="ko-KR" altLang="en-US" sz="2000" b="1" dirty="0">
              <a:latin typeface="Corbel" pitchFamily="34" charset="0"/>
            </a:endParaRPr>
          </a:p>
        </p:txBody>
      </p:sp>
      <p:sp>
        <p:nvSpPr>
          <p:cNvPr id="10" name="톱니 모양의 오른쪽 화살표 9"/>
          <p:cNvSpPr/>
          <p:nvPr/>
        </p:nvSpPr>
        <p:spPr>
          <a:xfrm>
            <a:off x="4355976" y="4653136"/>
            <a:ext cx="1080120" cy="720080"/>
          </a:xfrm>
          <a:prstGeom prst="notched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폭발 2 10"/>
          <p:cNvSpPr/>
          <p:nvPr/>
        </p:nvSpPr>
        <p:spPr>
          <a:xfrm>
            <a:off x="5724128" y="3861048"/>
            <a:ext cx="2880320" cy="2376264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latin typeface="Corbel" pitchFamily="34" charset="0"/>
              </a:rPr>
              <a:t>Always</a:t>
            </a:r>
          </a:p>
          <a:p>
            <a:pPr algn="ctr"/>
            <a:r>
              <a:rPr lang="en-US" altLang="ko-KR" sz="2400" b="1" dirty="0" smtClean="0">
                <a:latin typeface="Corbel" pitchFamily="34" charset="0"/>
              </a:rPr>
              <a:t>Spam???</a:t>
            </a:r>
            <a:endParaRPr lang="ko-KR" altLang="en-US" sz="2400" b="1" dirty="0">
              <a:latin typeface="Corbel" pitchFamily="34" charset="0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1835696" y="602128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051720" y="602128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1619672" y="602128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</a:p>
          <a:p>
            <a:r>
              <a:rPr lang="en-US" altLang="ko-KR" b="1" u="sng" dirty="0" smtClean="0">
                <a:solidFill>
                  <a:srgbClr val="C00000"/>
                </a:solidFill>
              </a:rPr>
              <a:t>Related Work</a:t>
            </a:r>
          </a:p>
          <a:p>
            <a:r>
              <a:rPr lang="en-US" altLang="ko-KR" dirty="0" smtClean="0"/>
              <a:t>Measure Tag Quality</a:t>
            </a:r>
          </a:p>
          <a:p>
            <a:r>
              <a:rPr lang="en-US" altLang="ko-KR" dirty="0" smtClean="0"/>
              <a:t>Evaluation</a:t>
            </a:r>
          </a:p>
          <a:p>
            <a:r>
              <a:rPr lang="en-US" altLang="ko-KR" dirty="0" smtClean="0"/>
              <a:t>Conclusions &amp; Future Work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Related Work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Collaborative tagging systems</a:t>
            </a:r>
          </a:p>
          <a:p>
            <a:r>
              <a:rPr lang="en-US" altLang="ko-KR" dirty="0" smtClean="0"/>
              <a:t>Spam detection</a:t>
            </a:r>
          </a:p>
          <a:p>
            <a:pPr lvl="1"/>
            <a:r>
              <a:rPr lang="en-US" altLang="ko-KR" dirty="0" err="1" smtClean="0">
                <a:solidFill>
                  <a:srgbClr val="C00000"/>
                </a:solidFill>
              </a:rPr>
              <a:t>TrustRank</a:t>
            </a:r>
            <a:r>
              <a:rPr lang="en-US" altLang="ko-KR" dirty="0" smtClean="0"/>
              <a:t> [12]</a:t>
            </a:r>
          </a:p>
          <a:p>
            <a:pPr lvl="2"/>
            <a:r>
              <a:rPr lang="en-US" altLang="ko-KR" dirty="0" smtClean="0"/>
              <a:t>Separates spam pages from non-spam pages</a:t>
            </a:r>
          </a:p>
          <a:p>
            <a:pPr lvl="2"/>
            <a:r>
              <a:rPr lang="en-US" altLang="ko-KR" dirty="0" smtClean="0"/>
              <a:t>The intuition that </a:t>
            </a:r>
            <a:r>
              <a:rPr lang="en-US" altLang="ko-KR" dirty="0" smtClean="0">
                <a:solidFill>
                  <a:srgbClr val="C00000"/>
                </a:solidFill>
              </a:rPr>
              <a:t>trustworthy pages usually link to also trustworthy pages</a:t>
            </a:r>
          </a:p>
          <a:p>
            <a:pPr lvl="2"/>
            <a:r>
              <a:rPr lang="en-US" altLang="ko-KR" dirty="0" smtClean="0"/>
              <a:t>Selects a seed set of highly trusted pages first and then propagate the trust score of seed pages by following the links from these pages through the Web</a:t>
            </a:r>
          </a:p>
          <a:p>
            <a:pPr lvl="1"/>
            <a:r>
              <a:rPr lang="en-US" altLang="ko-KR" dirty="0" smtClean="0">
                <a:solidFill>
                  <a:srgbClr val="C00000"/>
                </a:solidFill>
              </a:rPr>
              <a:t>Combating spam in tagging systems</a:t>
            </a:r>
            <a:r>
              <a:rPr lang="en-US" altLang="ko-KR" dirty="0" smtClean="0"/>
              <a:t> [6]</a:t>
            </a:r>
          </a:p>
          <a:p>
            <a:pPr lvl="2"/>
            <a:r>
              <a:rPr lang="en-US" altLang="ko-KR" dirty="0" smtClean="0"/>
              <a:t>Ranks a resource higher if more users annotated it with the queried tags</a:t>
            </a:r>
          </a:p>
          <a:p>
            <a:pPr lvl="2"/>
            <a:r>
              <a:rPr lang="en-US" altLang="ko-KR" dirty="0" smtClean="0"/>
              <a:t>The assumption that </a:t>
            </a:r>
            <a:r>
              <a:rPr lang="en-US" altLang="ko-KR" dirty="0" smtClean="0">
                <a:solidFill>
                  <a:srgbClr val="C00000"/>
                </a:solidFill>
              </a:rPr>
              <a:t>tag spam may not be used by the majority</a:t>
            </a:r>
          </a:p>
          <a:p>
            <a:pPr lvl="1"/>
            <a:r>
              <a:rPr lang="en-US" altLang="ko-KR" dirty="0" smtClean="0">
                <a:solidFill>
                  <a:srgbClr val="C00000"/>
                </a:solidFill>
              </a:rPr>
              <a:t>Collaborative tagging suggestions</a:t>
            </a:r>
            <a:r>
              <a:rPr lang="en-US" altLang="ko-KR" dirty="0" smtClean="0"/>
              <a:t> [5]</a:t>
            </a:r>
          </a:p>
          <a:p>
            <a:pPr lvl="2"/>
            <a:r>
              <a:rPr lang="en-US" altLang="ko-KR" dirty="0" smtClean="0"/>
              <a:t>Assigns authority scores to users, and measure the quality of each tag with respect to a resource by the sum of the authority scores of all users who have tagged the resource with the tag</a:t>
            </a:r>
          </a:p>
          <a:p>
            <a:pPr lvl="2"/>
            <a:r>
              <a:rPr lang="en-US" altLang="ko-KR" dirty="0" smtClean="0"/>
              <a:t>Then, the authority scores of users are computed via an iterative algorithm similar to HITs [14]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</a:t>
            </a:r>
          </a:p>
          <a:p>
            <a:r>
              <a:rPr lang="en-US" altLang="ko-KR" b="1" u="sng" dirty="0" smtClean="0">
                <a:solidFill>
                  <a:srgbClr val="C00000"/>
                </a:solidFill>
              </a:rPr>
              <a:t>Measure Tag Quality</a:t>
            </a:r>
          </a:p>
          <a:p>
            <a:r>
              <a:rPr lang="en-US" altLang="ko-KR" dirty="0" smtClean="0"/>
              <a:t>Evaluation</a:t>
            </a:r>
          </a:p>
          <a:p>
            <a:r>
              <a:rPr lang="en-US" altLang="ko-KR" dirty="0" smtClean="0"/>
              <a:t>Conclusions &amp; Future Work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(1/10)</a:t>
            </a:r>
            <a:br>
              <a:rPr lang="en-US" altLang="ko-KR" sz="2200" dirty="0" smtClean="0"/>
            </a:br>
            <a:r>
              <a:rPr lang="en-US" altLang="ko-KR" dirty="0" smtClean="0"/>
              <a:t>- Problem Specification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- T</a:t>
            </a:r>
            <a:r>
              <a:rPr lang="en-US" altLang="ko-KR" dirty="0" smtClean="0"/>
              <a:t>: a set of tags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/>
              <a:t>: a set of resources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dirty="0" smtClean="0"/>
              <a:t>: a set of users </a:t>
            </a:r>
          </a:p>
          <a:p>
            <a:r>
              <a:rPr lang="en-US" altLang="ko-KR" dirty="0" smtClean="0"/>
              <a:t>- A tag- resource pair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/>
              <a:t>: a tag assignment of a tag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/>
              <a:t> to a resource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/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en-US" altLang="ko-KR" dirty="0" smtClean="0"/>
              <a:t>- A set of tag-resource pairs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- Each tag-resource pair is assigned by at least one user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en-US" altLang="ko-KR" dirty="0" smtClean="0"/>
              <a:t>- A function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: retrieves the set of users who assigned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/>
              <a:t> to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/>
              <a:t>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≠ </a:t>
            </a:r>
            <a:r>
              <a:rPr lang="en-US" altLang="ko-KR" i="1" dirty="0" smtClean="0">
                <a:latin typeface="Times New Roman" pitchFamily="18" charset="0"/>
                <a:ea typeface="바탕"/>
                <a:cs typeface="Times New Roman" pitchFamily="18" charset="0"/>
              </a:rPr>
              <a:t>Ø</a:t>
            </a:r>
            <a:r>
              <a:rPr lang="en-US" altLang="ko-KR" dirty="0" smtClean="0"/>
              <a:t>  </a:t>
            </a:r>
          </a:p>
          <a:p>
            <a:r>
              <a:rPr lang="en-US" altLang="ko-KR" dirty="0" smtClean="0"/>
              <a:t>Given the complete set of tag-resource pairs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, and associated users of each tag-resource pair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⊆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>
                <a:solidFill>
                  <a:srgbClr val="C00000"/>
                </a:solidFill>
              </a:rPr>
              <a:t>Our goal is to find a function</a:t>
            </a: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>
                <a:solidFill>
                  <a:srgbClr val="C00000"/>
                </a:solidFill>
              </a:rPr>
              <a:t> which assigns a score to each tag-resource pair </a:t>
            </a:r>
            <a:r>
              <a:rPr lang="en-US" altLang="ko-KR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/>
              <a:t> such that the higher the value of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, the better the quality of the pair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The value of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ranges in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[-1, 1]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(2/10)</a:t>
            </a:r>
            <a:br>
              <a:rPr lang="en-US" altLang="ko-KR" sz="2200" dirty="0" smtClean="0"/>
            </a:br>
            <a:r>
              <a:rPr lang="en-US" altLang="ko-KR" dirty="0" smtClean="0"/>
              <a:t>- Tagging System Model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We model the data as a bidirected weighted graph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dirty="0" smtClean="0"/>
              <a:t>: a set of vertices with each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dirty="0" smtClean="0"/>
              <a:t> represents a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/>
              <a:t>   </a:t>
            </a:r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ko-KR" dirty="0" smtClean="0"/>
              <a:t>: a set of edges such that each edge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indicates that the two corresponding tag-resource pair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/>
              <a:t> &amp;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dirty="0" smtClean="0"/>
              <a:t> are assigned by at least one common user (that is,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∩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≥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 = |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∩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getU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|   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(3/10)</a:t>
            </a:r>
            <a:br>
              <a:rPr lang="en-US" altLang="ko-KR" sz="2200" dirty="0" smtClean="0"/>
            </a:br>
            <a:r>
              <a:rPr lang="en-US" altLang="ko-KR" dirty="0" smtClean="0"/>
              <a:t>- Tagging System Model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A very simple tagging scenario</a:t>
            </a:r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  </a:t>
            </a:r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altLang="ko-KR" dirty="0" smtClean="0"/>
              <a:t>     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We introduce a right stochastic transition matrix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240663"/>
            <a:ext cx="5537448" cy="2196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9763" y="5102696"/>
            <a:ext cx="53244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(4/10)</a:t>
            </a:r>
            <a:br>
              <a:rPr lang="en-US" altLang="ko-KR" sz="2200" dirty="0" smtClean="0"/>
            </a:br>
            <a:r>
              <a:rPr lang="en-US" altLang="ko-KR" dirty="0" smtClean="0"/>
              <a:t>- Tagging System Model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980728"/>
            <a:ext cx="5537448" cy="2196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9763" y="3356992"/>
            <a:ext cx="53244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4576" y="4621051"/>
            <a:ext cx="7125816" cy="1976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(5/10)</a:t>
            </a:r>
            <a:br>
              <a:rPr lang="en-US" altLang="ko-KR" sz="2200" dirty="0" smtClean="0"/>
            </a:br>
            <a:r>
              <a:rPr lang="en-US" altLang="ko-KR" dirty="0" smtClean="0"/>
              <a:t>- Quality Propagation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Basic idea of TRP-Rank</a:t>
            </a:r>
          </a:p>
          <a:p>
            <a:pPr lvl="1"/>
            <a:r>
              <a:rPr lang="en-US" altLang="ko-KR" dirty="0" smtClean="0"/>
              <a:t>Manually assign quality scores to a subset of TR first</a:t>
            </a:r>
          </a:p>
          <a:p>
            <a:pPr lvl="1"/>
            <a:r>
              <a:rPr lang="en-US" altLang="ko-KR" dirty="0" smtClean="0"/>
              <a:t>Propagate these quality values through the graph</a:t>
            </a:r>
          </a:p>
          <a:p>
            <a:r>
              <a:rPr lang="en-US" altLang="ko-KR" dirty="0" smtClean="0"/>
              <a:t>A brief review of PageRank &amp; </a:t>
            </a:r>
            <a:r>
              <a:rPr lang="en-US" altLang="ko-KR" dirty="0" err="1" smtClean="0"/>
              <a:t>TrustRank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PageRank</a:t>
            </a:r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el-GR" altLang="ko-KR" i="1" dirty="0" smtClean="0">
                <a:latin typeface="Times New Roman" pitchFamily="18" charset="0"/>
                <a:ea typeface="바탕"/>
                <a:cs typeface="Times New Roman" pitchFamily="18" charset="0"/>
              </a:rPr>
              <a:t>α</a:t>
            </a:r>
            <a:r>
              <a:rPr lang="en-US" altLang="ko-KR" dirty="0" smtClean="0"/>
              <a:t> is a decay factor,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dirty="0" smtClean="0"/>
              <a:t> is the transition matrix and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 is the # of Web pages</a:t>
            </a:r>
          </a:p>
          <a:p>
            <a:pPr lvl="1"/>
            <a:r>
              <a:rPr lang="en-US" altLang="ko-KR" dirty="0" err="1" smtClean="0"/>
              <a:t>TrustRank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Each seed site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 smtClean="0"/>
              <a:t> was manually assessed with an oracle function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</a:t>
            </a:r>
          </a:p>
          <a:p>
            <a:pPr lvl="2"/>
            <a:r>
              <a:rPr lang="en-US" altLang="ko-KR" dirty="0" smtClean="0"/>
              <a:t>The column vector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•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 is replaced with a vector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dirty="0" smtClean="0"/>
              <a:t> such that</a:t>
            </a:r>
          </a:p>
          <a:p>
            <a:pPr lvl="3"/>
            <a:r>
              <a:rPr lang="en-US" altLang="ko-KR" dirty="0" smtClean="0"/>
              <a:t>Elements corresponding to manually assessed sites are set as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 </a:t>
            </a:r>
          </a:p>
          <a:p>
            <a:pPr lvl="3"/>
            <a:r>
              <a:rPr lang="en-US" altLang="ko-KR" dirty="0" smtClean="0"/>
              <a:t>The remaining elements are set as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ko-KR" dirty="0" smtClean="0"/>
              <a:t> </a:t>
            </a:r>
          </a:p>
          <a:p>
            <a:pPr lvl="2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dirty="0" smtClean="0"/>
              <a:t> is then normalized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/ |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ko-KR" dirty="0" smtClean="0"/>
              <a:t>  </a:t>
            </a:r>
          </a:p>
          <a:p>
            <a:pPr lvl="2"/>
            <a:endParaRPr lang="en-US" altLang="ko-KR" dirty="0" smtClean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163" y="2983607"/>
            <a:ext cx="578167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0263" y="6093296"/>
            <a:ext cx="49434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(6/10)</a:t>
            </a:r>
            <a:br>
              <a:rPr lang="en-US" altLang="ko-KR" sz="2200" dirty="0" smtClean="0"/>
            </a:br>
            <a:r>
              <a:rPr lang="en-US" altLang="ko-KR" dirty="0" smtClean="0"/>
              <a:t>- Quality Propagation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TRP-Rank</a:t>
            </a:r>
          </a:p>
          <a:p>
            <a:pPr lvl="1"/>
            <a:r>
              <a:rPr lang="en-US" altLang="ko-KR" dirty="0" smtClean="0"/>
              <a:t>Propagates initial quality scores of seed tag-resource pairs</a:t>
            </a:r>
          </a:p>
          <a:p>
            <a:pPr lvl="1"/>
            <a:r>
              <a:rPr lang="en-US" altLang="ko-KR" dirty="0" smtClean="0"/>
              <a:t>Adopts the distrust propagation idea in [18] to allow the propagation of scores for </a:t>
            </a:r>
            <a:r>
              <a:rPr lang="en-US" altLang="ko-KR" dirty="0" smtClean="0">
                <a:solidFill>
                  <a:srgbClr val="C00000"/>
                </a:solidFill>
              </a:rPr>
              <a:t>not only good tag assignments but also explicitly bad ones</a:t>
            </a:r>
          </a:p>
          <a:p>
            <a:pPr lvl="1"/>
            <a:r>
              <a:rPr lang="en-US" altLang="ko-KR" dirty="0" smtClean="0"/>
              <a:t>Populates the initial vector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ko-KR" dirty="0" smtClean="0"/>
              <a:t> with:</a:t>
            </a:r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O(tr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∈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{-1, 0, 1}</a:t>
            </a:r>
            <a:r>
              <a:rPr lang="en-US" altLang="ko-KR" dirty="0" smtClean="0"/>
              <a:t>   </a:t>
            </a:r>
          </a:p>
          <a:p>
            <a:pPr lvl="2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SEED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바탕"/>
                <a:cs typeface="Times New Roman" pitchFamily="18" charset="0"/>
              </a:rPr>
              <a:t>⊆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/>
              <a:t> is a set of seed nodes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50" y="2852936"/>
            <a:ext cx="4381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(7/10)</a:t>
            </a:r>
            <a:br>
              <a:rPr lang="en-US" altLang="ko-KR" sz="2200" dirty="0" smtClean="0"/>
            </a:br>
            <a:r>
              <a:rPr lang="en-US" altLang="ko-KR" dirty="0" smtClean="0"/>
              <a:t>- Quality Propagation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The results of TRP-Rank after 10 iterations</a:t>
            </a:r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dirty="0" smtClean="0"/>
              <a:t> &amp;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dirty="0" smtClean="0"/>
              <a:t> are selected as seed nodes and the decay factor </a:t>
            </a:r>
            <a:r>
              <a:rPr lang="el-GR" altLang="ko-KR" i="1" dirty="0" smtClean="0">
                <a:latin typeface="Times New Roman" pitchFamily="18" charset="0"/>
                <a:ea typeface="바탕"/>
                <a:cs typeface="Times New Roman" pitchFamily="18" charset="0"/>
              </a:rPr>
              <a:t>α</a:t>
            </a:r>
            <a:r>
              <a:rPr lang="en-US" altLang="ko-KR" dirty="0" smtClean="0"/>
              <a:t> is set as 0.85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85344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(8/10)</a:t>
            </a:r>
            <a:br>
              <a:rPr lang="en-US" altLang="ko-KR" sz="2200" dirty="0" smtClean="0"/>
            </a:br>
            <a:r>
              <a:rPr lang="en-US" altLang="ko-KR" dirty="0" smtClean="0"/>
              <a:t>- Seed Selection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Two main challenges for seed set selections</a:t>
            </a:r>
          </a:p>
          <a:p>
            <a:pPr lvl="1"/>
            <a:r>
              <a:rPr lang="en-US" altLang="ko-KR" dirty="0" smtClean="0"/>
              <a:t>1) </a:t>
            </a:r>
            <a:r>
              <a:rPr lang="en-US" altLang="ko-KR" dirty="0" smtClean="0">
                <a:solidFill>
                  <a:srgbClr val="C00000"/>
                </a:solidFill>
              </a:rPr>
              <a:t>finding an appropriate size for the seed set</a:t>
            </a:r>
          </a:p>
          <a:p>
            <a:pPr lvl="2"/>
            <a:r>
              <a:rPr lang="en-US" altLang="ko-KR" dirty="0" smtClean="0"/>
              <a:t>A small seed set may not be enough to reach most nodes in the graph</a:t>
            </a:r>
          </a:p>
          <a:p>
            <a:pPr lvl="2"/>
            <a:r>
              <a:rPr lang="en-US" altLang="ko-KR" dirty="0" smtClean="0"/>
              <a:t>A large seed set means an expensive manual assessment process</a:t>
            </a:r>
          </a:p>
          <a:p>
            <a:pPr lvl="2"/>
            <a:endParaRPr lang="en-US" altLang="ko-KR" dirty="0" smtClean="0"/>
          </a:p>
          <a:p>
            <a:pPr lvl="1"/>
            <a:r>
              <a:rPr lang="en-US" altLang="ko-KR" dirty="0" smtClean="0"/>
              <a:t>2) </a:t>
            </a:r>
            <a:r>
              <a:rPr lang="en-US" altLang="ko-KR" dirty="0" smtClean="0">
                <a:solidFill>
                  <a:srgbClr val="C00000"/>
                </a:solidFill>
              </a:rPr>
              <a:t>picking the right set of tag-resource pairs as seeds</a:t>
            </a:r>
          </a:p>
          <a:p>
            <a:pPr lvl="2"/>
            <a:r>
              <a:rPr lang="en-US" altLang="ko-KR" dirty="0" smtClean="0"/>
              <a:t>On the one hand, the seed set should contain not only good tag-resource pairs but also pairs of low quality, so that explicit information of both good and bad quality can be propagated</a:t>
            </a:r>
          </a:p>
          <a:p>
            <a:pPr lvl="2"/>
            <a:r>
              <a:rPr lang="en-US" altLang="ko-KR" dirty="0" smtClean="0"/>
              <a:t>On the other hand, the seed set should contain nodes from which many of the remaining nodes can be reached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(9/10)</a:t>
            </a:r>
            <a:br>
              <a:rPr lang="en-US" altLang="ko-KR" sz="2200" dirty="0" smtClean="0"/>
            </a:br>
            <a:r>
              <a:rPr lang="en-US" altLang="ko-KR" dirty="0" smtClean="0"/>
              <a:t>- Seed Selection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We first compute PageRank scores for each tag-resource node to examine the connectivity of each node in the graph</a:t>
            </a:r>
          </a:p>
          <a:p>
            <a:r>
              <a:rPr lang="en-US" altLang="ko-KR" dirty="0" smtClean="0"/>
              <a:t>The resulting list, with the nodes ordered according to PageRank, is the starting point for the three strategies we evaluated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en-US" altLang="ko-KR" dirty="0" smtClean="0">
                <a:solidFill>
                  <a:srgbClr val="C00000"/>
                </a:solidFill>
              </a:rPr>
              <a:t>Top-k seed set</a:t>
            </a:r>
          </a:p>
          <a:p>
            <a:pPr lvl="1"/>
            <a:r>
              <a:rPr lang="en-US" altLang="ko-KR" dirty="0" smtClean="0"/>
              <a:t>We consider the top-k PageRank directly</a:t>
            </a:r>
          </a:p>
          <a:p>
            <a:pPr lvl="1"/>
            <a:r>
              <a:rPr lang="en-US" altLang="ko-KR" dirty="0" smtClean="0"/>
              <a:t>Can be easily adjusted to satisfy the first requirement of the seed set size</a:t>
            </a:r>
          </a:p>
          <a:p>
            <a:pPr lvl="1"/>
            <a:r>
              <a:rPr lang="en-US" altLang="ko-KR" dirty="0" smtClean="0"/>
              <a:t>May not be able to select the right seed set which includes both good and bad tag-resource nodes</a:t>
            </a:r>
          </a:p>
          <a:p>
            <a:pPr lvl="2"/>
            <a:r>
              <a:rPr lang="en-US" altLang="ko-KR" dirty="0" smtClean="0"/>
              <a:t>Bad tag-resource nodes usually have lower PageRank values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Measure Tag Quality (10/10)</a:t>
            </a:r>
            <a:br>
              <a:rPr lang="en-US" altLang="ko-KR" sz="2200" dirty="0" smtClean="0"/>
            </a:br>
            <a:r>
              <a:rPr lang="en-US" altLang="ko-KR" dirty="0" smtClean="0"/>
              <a:t>- Seed Selection Strategies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2. </a:t>
            </a:r>
            <a:r>
              <a:rPr lang="en-US" altLang="ko-KR" dirty="0" smtClean="0">
                <a:solidFill>
                  <a:srgbClr val="C00000"/>
                </a:solidFill>
              </a:rPr>
              <a:t>Exponential base seed set</a:t>
            </a:r>
          </a:p>
          <a:p>
            <a:pPr lvl="1"/>
            <a:r>
              <a:rPr lang="en-US" altLang="ko-KR" dirty="0" smtClean="0"/>
              <a:t>Aims to include more bad tag-resource nodes in the seed set</a:t>
            </a:r>
          </a:p>
          <a:p>
            <a:pPr lvl="1"/>
            <a:r>
              <a:rPr lang="en-US" altLang="ko-KR" dirty="0" smtClean="0"/>
              <a:t>After ordering nodes based on their PageRank scores, seed nodes are selected with an increasing interval, such as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ko-KR" i="1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 ...}</a:t>
            </a:r>
            <a:r>
              <a:rPr lang="en-US" altLang="ko-KR" dirty="0" smtClean="0"/>
              <a:t>  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3. </a:t>
            </a:r>
            <a:r>
              <a:rPr lang="en-US" altLang="ko-KR" dirty="0" smtClean="0">
                <a:solidFill>
                  <a:srgbClr val="C00000"/>
                </a:solidFill>
              </a:rPr>
              <a:t>Constant base seed set</a:t>
            </a:r>
            <a:r>
              <a:rPr lang="en-US" altLang="ko-KR" dirty="0" smtClean="0"/>
              <a:t> </a:t>
            </a:r>
          </a:p>
          <a:p>
            <a:pPr lvl="1"/>
            <a:r>
              <a:rPr lang="en-US" altLang="ko-KR" dirty="0" smtClean="0"/>
              <a:t>Aims to select good &amp; bad tag-resource nodes with equal chances</a:t>
            </a:r>
          </a:p>
          <a:p>
            <a:pPr lvl="1"/>
            <a:r>
              <a:rPr lang="en-US" altLang="ko-KR" dirty="0" smtClean="0"/>
              <a:t>E.g., let the constant base be 10, then every 10th node will be selected</a:t>
            </a:r>
          </a:p>
          <a:p>
            <a:pPr lvl="1"/>
            <a:r>
              <a:rPr lang="en-US" altLang="ko-KR" dirty="0" smtClean="0"/>
              <a:t>The inclusion of more bad tag-resource nodes may be able to discover more tag-resource nodes with inferior quality</a:t>
            </a:r>
          </a:p>
          <a:p>
            <a:pPr lvl="1"/>
            <a:r>
              <a:rPr lang="en-US" altLang="ko-KR" dirty="0" smtClean="0"/>
              <a:t>The propagation may not be as extensive as before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</a:t>
            </a:r>
          </a:p>
          <a:p>
            <a:r>
              <a:rPr lang="en-US" altLang="ko-KR" dirty="0" smtClean="0"/>
              <a:t>Measure Tag Quality</a:t>
            </a:r>
          </a:p>
          <a:p>
            <a:r>
              <a:rPr lang="en-US" altLang="ko-KR" b="1" u="sng" dirty="0" smtClean="0">
                <a:solidFill>
                  <a:srgbClr val="C00000"/>
                </a:solidFill>
              </a:rPr>
              <a:t>Evaluation</a:t>
            </a:r>
          </a:p>
          <a:p>
            <a:r>
              <a:rPr lang="en-US" altLang="ko-KR" dirty="0" smtClean="0"/>
              <a:t>Conclusions &amp; Future Work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Evaluation (1/5)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Data Set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BibSonomy</a:t>
            </a:r>
            <a:r>
              <a:rPr lang="en-US" altLang="ko-KR" dirty="0" smtClean="0"/>
              <a:t> system for publications</a:t>
            </a:r>
          </a:p>
          <a:p>
            <a:pPr lvl="1"/>
            <a:r>
              <a:rPr lang="en-US" altLang="ko-KR" dirty="0" smtClean="0"/>
              <a:t>221, 354 tag assignments by 1, 328 users</a:t>
            </a:r>
          </a:p>
          <a:p>
            <a:pPr lvl="1"/>
            <a:r>
              <a:rPr lang="en-US" altLang="ko-KR" dirty="0" smtClean="0"/>
              <a:t>118 were marked manually as </a:t>
            </a:r>
            <a:r>
              <a:rPr lang="en-US" altLang="ko-KR" dirty="0" smtClean="0">
                <a:solidFill>
                  <a:srgbClr val="C00000"/>
                </a:solidFill>
              </a:rPr>
              <a:t>spammers</a:t>
            </a:r>
          </a:p>
          <a:p>
            <a:pPr lvl="1"/>
            <a:r>
              <a:rPr lang="en-US" altLang="ko-KR" dirty="0" smtClean="0"/>
              <a:t>1,210 as </a:t>
            </a:r>
            <a:r>
              <a:rPr lang="en-US" altLang="ko-KR" dirty="0" smtClean="0">
                <a:solidFill>
                  <a:srgbClr val="C00000"/>
                </a:solidFill>
              </a:rPr>
              <a:t>non-spammers</a:t>
            </a:r>
            <a:r>
              <a:rPr lang="en-US" altLang="ko-KR" dirty="0" smtClean="0"/>
              <a:t>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195,198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err="1" smtClean="0"/>
              <a:t>s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Although these numbers seem to imply that the graph is not highly connected, a rather small seed set is sufficient to reach most of the nodes in the graph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013" y="3247628"/>
            <a:ext cx="81819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Evaluation (2/5)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Indirect Evaluation Method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An </a:t>
            </a:r>
            <a:r>
              <a:rPr lang="en-US" altLang="ko-KR" dirty="0" smtClean="0">
                <a:solidFill>
                  <a:srgbClr val="C00000"/>
                </a:solidFill>
              </a:rPr>
              <a:t>indirect evaluation</a:t>
            </a:r>
            <a:r>
              <a:rPr lang="en-US" altLang="ko-KR" dirty="0" smtClean="0"/>
              <a:t> method needs to be used since the data set contains only the spammer information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Two issues</a:t>
            </a:r>
          </a:p>
          <a:p>
            <a:pPr lvl="1"/>
            <a:r>
              <a:rPr lang="en-US" altLang="ko-KR" dirty="0" smtClean="0"/>
              <a:t>1) "The input of TRP-Rank needs manually assessed quality scores of a set of seed tag-resource nodes. How to assign the initial quality using the spammer information in the data?"</a:t>
            </a:r>
          </a:p>
          <a:p>
            <a:pPr lvl="1"/>
            <a:r>
              <a:rPr lang="en-US" altLang="ko-KR" dirty="0" smtClean="0"/>
              <a:t>2) "The output of TRP-Rank is the converged quality scores of all tag-resource pairs. How to map the quality scores of tag-resource pairs to some score which could reflect whether a user is a spammer or not?"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Evaluation (3/5)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Indirect Evaluation Method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We use the available spammer information in the dataset by defining a function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notSpammer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 ∈ {1,−1}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The oracle function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assigns the scores to each 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/>
              <a:t> ∈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SEED</a:t>
            </a:r>
            <a:r>
              <a:rPr lang="en-US" altLang="ko-KR" dirty="0" smtClean="0"/>
              <a:t> as: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en-US" altLang="ko-KR" dirty="0" smtClean="0"/>
              <a:t>When a tag-resource pair is assigned by more normal users than spammers, it is deemed as a good tag-resource node and assigned a positive quality score</a:t>
            </a:r>
          </a:p>
          <a:p>
            <a:r>
              <a:rPr lang="en-US" altLang="ko-KR" dirty="0" smtClean="0"/>
              <a:t>For mapping the result quality scores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 to the final scores,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6763" y="2479923"/>
            <a:ext cx="76104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75" y="5746576"/>
            <a:ext cx="77152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Evaluation (4/5)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TRP-Rank Performance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1448" y="1071546"/>
            <a:ext cx="8801104" cy="559781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1) The performance generated when the complete set of tag-resource nodes are used as seeds</a:t>
            </a:r>
          </a:p>
          <a:p>
            <a:r>
              <a:rPr lang="en-US" altLang="ko-KR" dirty="0" smtClean="0"/>
              <a:t>2) Using all nodes with positive initial quality scores as seeds</a:t>
            </a:r>
          </a:p>
          <a:p>
            <a:r>
              <a:rPr lang="en-US" altLang="ko-KR" dirty="0" smtClean="0"/>
              <a:t>3) Using all nodes with negative initial quality scores as seeds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pPr lvl="1"/>
            <a:r>
              <a:rPr lang="en-US" altLang="ko-KR" dirty="0" smtClean="0"/>
              <a:t>Using all nodes with negative initial quality scores is able to detect more spammers correctly than using all nodes with positive ones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899529"/>
            <a:ext cx="6925419" cy="285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200" dirty="0" smtClean="0"/>
              <a:t>Evaluation (5/5)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TRP-Rank Performance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1448" y="1071546"/>
            <a:ext cx="8801104" cy="559781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We conduct the experiments by varying the size of seed sets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We further investigate how the performance of TRP-Rank varies with respect to the seed set size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7415758" cy="217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직선 연결선 7"/>
          <p:cNvCxnSpPr/>
          <p:nvPr/>
        </p:nvCxnSpPr>
        <p:spPr>
          <a:xfrm>
            <a:off x="1979712" y="3215648"/>
            <a:ext cx="532859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9514" y="4581128"/>
            <a:ext cx="7476902" cy="2164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Introduction</a:t>
            </a:r>
          </a:p>
          <a:p>
            <a:r>
              <a:rPr lang="en-US" altLang="ko-KR" dirty="0" smtClean="0"/>
              <a:t>Related Work</a:t>
            </a:r>
          </a:p>
          <a:p>
            <a:r>
              <a:rPr lang="en-US" altLang="ko-KR" dirty="0" smtClean="0"/>
              <a:t>Measure Tag Quality</a:t>
            </a:r>
          </a:p>
          <a:p>
            <a:r>
              <a:rPr lang="en-US" altLang="ko-KR" dirty="0" smtClean="0"/>
              <a:t>Evaluation</a:t>
            </a:r>
          </a:p>
          <a:p>
            <a:r>
              <a:rPr lang="en-US" altLang="ko-KR" b="1" u="sng" dirty="0" smtClean="0">
                <a:solidFill>
                  <a:srgbClr val="C00000"/>
                </a:solidFill>
              </a:rPr>
              <a:t>Conclusions &amp; Future Work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Conclusions &amp; Future Work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Conclusions</a:t>
            </a:r>
          </a:p>
          <a:p>
            <a:pPr lvl="1"/>
            <a:r>
              <a:rPr lang="en-US" altLang="ko-KR" dirty="0" smtClean="0"/>
              <a:t>We focus on the problem of measuring the quality of tags which are supplied by users to annotate resources on the Web</a:t>
            </a:r>
          </a:p>
          <a:p>
            <a:pPr lvl="1"/>
            <a:r>
              <a:rPr lang="en-US" altLang="ko-KR" dirty="0" smtClean="0"/>
              <a:t>The main characteristics of our algorithm are represented by the </a:t>
            </a:r>
            <a:r>
              <a:rPr lang="en-US" altLang="ko-KR" dirty="0" smtClean="0">
                <a:solidFill>
                  <a:srgbClr val="C00000"/>
                </a:solidFill>
              </a:rPr>
              <a:t>data model</a:t>
            </a:r>
            <a:r>
              <a:rPr lang="en-US" altLang="ko-KR" dirty="0" smtClean="0"/>
              <a:t> we adopt and the </a:t>
            </a:r>
            <a:r>
              <a:rPr lang="en-US" altLang="ko-KR" dirty="0" smtClean="0">
                <a:solidFill>
                  <a:srgbClr val="C00000"/>
                </a:solidFill>
              </a:rPr>
              <a:t>seed selection functions</a:t>
            </a:r>
            <a:r>
              <a:rPr lang="en-US" altLang="ko-KR" dirty="0" smtClean="0"/>
              <a:t> we investigate</a:t>
            </a:r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Future work</a:t>
            </a:r>
          </a:p>
          <a:p>
            <a:pPr lvl="1"/>
            <a:r>
              <a:rPr lang="en-US" altLang="ko-KR" dirty="0" smtClean="0"/>
              <a:t>Assigning finer initial quality scores such as 0.2, 0.5 to the set of seeds than the three distinct values {−1, 0, 1}</a:t>
            </a:r>
          </a:p>
          <a:p>
            <a:pPr lvl="1"/>
            <a:r>
              <a:rPr lang="en-US" altLang="ko-KR" dirty="0" smtClean="0">
                <a:solidFill>
                  <a:srgbClr val="C00000"/>
                </a:solidFill>
              </a:rPr>
              <a:t>How to make use of Web 2.0 and let users generate the seed set</a:t>
            </a:r>
          </a:p>
          <a:p>
            <a:pPr lvl="1"/>
            <a:r>
              <a:rPr lang="en-US" altLang="ko-KR" dirty="0" smtClean="0"/>
              <a:t>Revising our approach to specifically address </a:t>
            </a:r>
            <a:r>
              <a:rPr lang="en-US" altLang="ko-KR" dirty="0" err="1" smtClean="0"/>
              <a:t>combatting</a:t>
            </a:r>
            <a:r>
              <a:rPr lang="en-US" altLang="ko-KR" dirty="0" smtClean="0"/>
              <a:t> tag spam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 smtClean="0"/>
              <a:t>Thank You!</a:t>
            </a:r>
            <a:endParaRPr lang="ko-KR" altLang="en-US" sz="4400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 smtClean="0"/>
              <a:t>Any questions or comments?</a:t>
            </a:r>
            <a:endParaRPr lang="ko-KR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NU IDB Lab.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3351</TotalTime>
  <Words>1572</Words>
  <Application>Microsoft Office PowerPoint</Application>
  <PresentationFormat>화면 슬라이드 쇼(4:3)</PresentationFormat>
  <Paragraphs>237</Paragraphs>
  <Slides>26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SNU IDB Lab.</vt:lpstr>
      <vt:lpstr>The Art of Tagging:  Measuring the Quality of Tags</vt:lpstr>
      <vt:lpstr>Outline</vt:lpstr>
      <vt:lpstr>Introduction (1/2)</vt:lpstr>
      <vt:lpstr>Introduction (2/2)</vt:lpstr>
      <vt:lpstr>Outline</vt:lpstr>
      <vt:lpstr>Related Work</vt:lpstr>
      <vt:lpstr>Outline</vt:lpstr>
      <vt:lpstr>Measure Tag Quality (1/10) - Problem Specification</vt:lpstr>
      <vt:lpstr>Measure Tag Quality (2/10) - Tagging System Model</vt:lpstr>
      <vt:lpstr>Measure Tag Quality (3/10) - Tagging System Model</vt:lpstr>
      <vt:lpstr>Measure Tag Quality (4/10) - Tagging System Model</vt:lpstr>
      <vt:lpstr>Measure Tag Quality (5/10) - Quality Propagation</vt:lpstr>
      <vt:lpstr>Measure Tag Quality (6/10) - Quality Propagation</vt:lpstr>
      <vt:lpstr>Measure Tag Quality (7/10) - Quality Propagation</vt:lpstr>
      <vt:lpstr>Measure Tag Quality (8/10) - Seed Selection Strategies</vt:lpstr>
      <vt:lpstr>Measure Tag Quality (9/10) - Seed Selection Strategies</vt:lpstr>
      <vt:lpstr>Measure Tag Quality (10/10) - Seed Selection Strategies</vt:lpstr>
      <vt:lpstr>Outline</vt:lpstr>
      <vt:lpstr>Evaluation (1/5) - Data Set</vt:lpstr>
      <vt:lpstr>Evaluation (2/5) - Indirect Evaluation Method</vt:lpstr>
      <vt:lpstr>Evaluation (3/5) - Indirect Evaluation Method</vt:lpstr>
      <vt:lpstr>Evaluation (4/5) - TRP-Rank Performance</vt:lpstr>
      <vt:lpstr>Evaluation (5/5) - TRP-Rank Performance</vt:lpstr>
      <vt:lpstr>Outline</vt:lpstr>
      <vt:lpstr>Conclusions &amp; Future Work</vt:lpstr>
      <vt:lpstr>Thank You!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Tag</dc:title>
  <dc:creator>Microsoft Corporation</dc:creator>
  <cp:lastModifiedBy>IDB</cp:lastModifiedBy>
  <cp:revision>632</cp:revision>
  <dcterms:created xsi:type="dcterms:W3CDTF">2006-10-05T04:04:58Z</dcterms:created>
  <dcterms:modified xsi:type="dcterms:W3CDTF">2010-10-08T04:17:11Z</dcterms:modified>
</cp:coreProperties>
</file>