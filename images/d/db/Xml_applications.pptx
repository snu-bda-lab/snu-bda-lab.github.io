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42"/>
  </p:notesMasterIdLst>
  <p:handoutMasterIdLst>
    <p:handoutMasterId r:id="rId43"/>
  </p:handoutMasterIdLst>
  <p:sldIdLst>
    <p:sldId id="256" r:id="rId2"/>
    <p:sldId id="286" r:id="rId3"/>
    <p:sldId id="287" r:id="rId4"/>
    <p:sldId id="257" r:id="rId5"/>
    <p:sldId id="259" r:id="rId6"/>
    <p:sldId id="260" r:id="rId7"/>
    <p:sldId id="261" r:id="rId8"/>
    <p:sldId id="262" r:id="rId9"/>
    <p:sldId id="263" r:id="rId10"/>
    <p:sldId id="298" r:id="rId11"/>
    <p:sldId id="29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00" r:id="rId20"/>
    <p:sldId id="301" r:id="rId21"/>
    <p:sldId id="275" r:id="rId22"/>
    <p:sldId id="276" r:id="rId23"/>
    <p:sldId id="277" r:id="rId24"/>
    <p:sldId id="278" r:id="rId25"/>
    <p:sldId id="302" r:id="rId26"/>
    <p:sldId id="281" r:id="rId27"/>
    <p:sldId id="282" r:id="rId28"/>
    <p:sldId id="283" r:id="rId29"/>
    <p:sldId id="284" r:id="rId30"/>
    <p:sldId id="303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6" r:id="rId39"/>
    <p:sldId id="297" r:id="rId40"/>
    <p:sldId id="295" r:id="rId41"/>
  </p:sldIdLst>
  <p:sldSz cx="9144000" cy="6858000" type="screen4x3"/>
  <p:notesSz cx="6623050" cy="981075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03" autoAdjust="0"/>
    <p:restoredTop sz="79966" autoAdjust="0"/>
  </p:normalViewPr>
  <p:slideViewPr>
    <p:cSldViewPr>
      <p:cViewPr varScale="1">
        <p:scale>
          <a:sx n="60" d="100"/>
          <a:sy n="60" d="100"/>
        </p:scale>
        <p:origin x="-116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6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52850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0213"/>
            <a:ext cx="287020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52850" y="9320213"/>
            <a:ext cx="287020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B35320-8CC1-41B8-BF66-620D238341D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52850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3789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57250" y="735013"/>
            <a:ext cx="4908550" cy="3679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2650" y="4659313"/>
            <a:ext cx="4857750" cy="441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20213"/>
            <a:ext cx="287020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52850" y="9320213"/>
            <a:ext cx="287020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14809AA9-1399-4377-92B8-5832B366A42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FE7CCB-5CA9-434A-B93E-6FE9F84000AD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512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MathML(Mathematical Markup Languages)</a:t>
            </a:r>
          </a:p>
          <a:p>
            <a:pPr lvl="1"/>
            <a:r>
              <a:rPr lang="ko-KR" altLang="en-US"/>
              <a:t>수학방정식을 위한 </a:t>
            </a:r>
            <a:r>
              <a:rPr lang="en-US" altLang="ko-KR"/>
              <a:t>XML </a:t>
            </a:r>
            <a:r>
              <a:rPr lang="ko-KR" altLang="en-US"/>
              <a:t>애플리케이션</a:t>
            </a:r>
          </a:p>
          <a:p>
            <a:pPr lvl="1"/>
            <a:r>
              <a:rPr lang="ko-KR" altLang="en-US"/>
              <a:t>약간의 제약사항이 있지만 거의 모든 수식 표현가능</a:t>
            </a:r>
          </a:p>
          <a:p>
            <a:pPr lvl="1"/>
            <a:r>
              <a:rPr lang="ko-KR" altLang="en-US"/>
              <a:t>웹에 수식표현 또는 수식 교환을 위한 표준으로 사용가능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785ED8-5833-4AE4-A7EE-3228441B71FE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5222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Amaya </a:t>
            </a:r>
            <a:r>
              <a:rPr lang="ko-KR" altLang="en-US"/>
              <a:t>브라우저가 </a:t>
            </a:r>
            <a:r>
              <a:rPr lang="en-US" altLang="ko-KR"/>
              <a:t>MathML</a:t>
            </a:r>
            <a:r>
              <a:rPr lang="ko-KR" altLang="en-US"/>
              <a:t>로 작성된 맥스웰의 방정식을 표시하고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Amaya </a:t>
            </a:r>
            <a:r>
              <a:rPr lang="ko-KR" altLang="en-US"/>
              <a:t>브라우저는 약간의 </a:t>
            </a:r>
            <a:r>
              <a:rPr lang="en-US" altLang="ko-KR"/>
              <a:t>Math16</a:t>
            </a:r>
            <a:r>
              <a:rPr lang="ko-KR" altLang="en-US"/>
              <a:t>을 지원한다</a:t>
            </a:r>
          </a:p>
          <a:p>
            <a:r>
              <a:rPr lang="ko-KR" altLang="en-US"/>
              <a:t>현재 대부분의 웹 브라우저에서 아직 지원하고 있지 않는다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27012D-C23C-46A6-A1D6-44395594ED94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5325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MusicML</a:t>
            </a:r>
          </a:p>
          <a:p>
            <a:pPr lvl="1"/>
            <a:r>
              <a:rPr lang="en-US" altLang="ko-KR"/>
              <a:t>Cennection Factory</a:t>
            </a:r>
            <a:r>
              <a:rPr lang="ko-KR" altLang="en-US"/>
              <a:t>사가 악보를 위해 만든 </a:t>
            </a:r>
            <a:r>
              <a:rPr lang="en-US" altLang="ko-KR"/>
              <a:t>XML </a:t>
            </a:r>
            <a:r>
              <a:rPr lang="ko-KR" altLang="en-US"/>
              <a:t>어플리케이션</a:t>
            </a:r>
          </a:p>
          <a:p>
            <a:pPr lvl="1"/>
            <a:r>
              <a:rPr lang="ko-KR" altLang="en-US"/>
              <a:t>음표</a:t>
            </a:r>
            <a:r>
              <a:rPr lang="en-US" altLang="ko-KR"/>
              <a:t>, </a:t>
            </a:r>
            <a:r>
              <a:rPr lang="ko-KR" altLang="en-US"/>
              <a:t>박자</a:t>
            </a:r>
            <a:r>
              <a:rPr lang="en-US" altLang="ko-KR"/>
              <a:t>, </a:t>
            </a:r>
            <a:r>
              <a:rPr lang="ko-KR" altLang="en-US"/>
              <a:t>음자리표</a:t>
            </a:r>
            <a:r>
              <a:rPr lang="en-US" altLang="ko-KR"/>
              <a:t>, </a:t>
            </a:r>
            <a:r>
              <a:rPr lang="ko-KR" altLang="en-US"/>
              <a:t>리듬</a:t>
            </a:r>
            <a:r>
              <a:rPr lang="en-US" altLang="ko-KR"/>
              <a:t>, </a:t>
            </a:r>
            <a:r>
              <a:rPr lang="ko-KR" altLang="en-US"/>
              <a:t>쉼표</a:t>
            </a:r>
            <a:r>
              <a:rPr lang="en-US" altLang="ko-KR"/>
              <a:t>, </a:t>
            </a:r>
            <a:r>
              <a:rPr lang="ko-KR" altLang="en-US"/>
              <a:t>코드 등을 포함</a:t>
            </a:r>
          </a:p>
          <a:p>
            <a:pPr lvl="1"/>
            <a:r>
              <a:rPr lang="ko-KR" altLang="en-US"/>
              <a:t>웹 상에 악보를 표현 가능</a:t>
            </a:r>
          </a:p>
          <a:p>
            <a:pPr lvl="1"/>
            <a:r>
              <a:rPr lang="ko-KR" altLang="en-US"/>
              <a:t>기보 프로그램간의 악보 교환 목적으로도 사용 가능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8FF6A5-69A0-4BE4-9799-1561B67EBA77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5632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NewsML</a:t>
            </a:r>
          </a:p>
          <a:p>
            <a:pPr lvl="1"/>
            <a:r>
              <a:rPr lang="ko-KR" altLang="en-US"/>
              <a:t>특정 사건 내용을 </a:t>
            </a:r>
            <a:r>
              <a:rPr lang="en-US" altLang="ko-KR"/>
              <a:t>text, audio, video</a:t>
            </a:r>
            <a:r>
              <a:rPr lang="ko-KR" altLang="en-US"/>
              <a:t>등으로 입체적으로 기술하고</a:t>
            </a:r>
          </a:p>
          <a:p>
            <a:pPr lvl="1"/>
            <a:r>
              <a:rPr lang="ko-KR" altLang="en-US"/>
              <a:t>이들 간의 관계와 사건 간의 관계를 정의하면</a:t>
            </a:r>
          </a:p>
          <a:p>
            <a:pPr lvl="1"/>
            <a:r>
              <a:rPr lang="ko-KR" altLang="en-US"/>
              <a:t>사건</a:t>
            </a:r>
            <a:r>
              <a:rPr lang="en-US" altLang="ko-KR"/>
              <a:t>(event) </a:t>
            </a:r>
            <a:r>
              <a:rPr lang="ko-KR" altLang="en-US"/>
              <a:t>정보를 교환하기 용이하고 </a:t>
            </a:r>
          </a:p>
          <a:p>
            <a:pPr lvl="1"/>
            <a:r>
              <a:rPr lang="ko-KR" altLang="en-US"/>
              <a:t>특정 목적에 맞는 표현이 가능하다</a:t>
            </a:r>
            <a:r>
              <a:rPr lang="en-US" altLang="ko-KR"/>
              <a:t>.</a:t>
            </a:r>
          </a:p>
          <a:p>
            <a:pPr lvl="2"/>
            <a:r>
              <a:rPr lang="ko-KR" altLang="en-US"/>
              <a:t>한번 기술해 놓은 자료를 이용하여 </a:t>
            </a:r>
            <a:r>
              <a:rPr lang="en-US" altLang="ko-KR"/>
              <a:t>TV</a:t>
            </a:r>
            <a:r>
              <a:rPr lang="ko-KR" altLang="en-US"/>
              <a:t>방송</a:t>
            </a:r>
            <a:r>
              <a:rPr lang="en-US" altLang="ko-KR"/>
              <a:t>, </a:t>
            </a:r>
            <a:r>
              <a:rPr lang="ko-KR" altLang="en-US"/>
              <a:t>자막 방송</a:t>
            </a:r>
            <a:r>
              <a:rPr lang="en-US" altLang="ko-KR"/>
              <a:t>, </a:t>
            </a:r>
            <a:r>
              <a:rPr lang="ko-KR" altLang="en-US"/>
              <a:t>신문기사</a:t>
            </a:r>
            <a:r>
              <a:rPr lang="en-US" altLang="ko-KR"/>
              <a:t>, </a:t>
            </a:r>
            <a:r>
              <a:rPr lang="ko-KR" altLang="en-US"/>
              <a:t>웹 뉴스 등</a:t>
            </a:r>
            <a:br>
              <a:rPr lang="ko-KR" altLang="en-US"/>
            </a:br>
            <a:r>
              <a:rPr lang="ko-KR" altLang="en-US"/>
              <a:t>필요한 형식에 맞추어 </a:t>
            </a:r>
            <a:r>
              <a:rPr lang="en-US" altLang="ko-KR"/>
              <a:t>display</a:t>
            </a:r>
            <a:r>
              <a:rPr lang="ko-KR" altLang="en-US"/>
              <a:t>가 가능함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58838" y="735013"/>
            <a:ext cx="4905375" cy="36798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/>
              <a:t>NewML</a:t>
            </a:r>
            <a:r>
              <a:rPr lang="en-US" altLang="ko-KR" dirty="0" smtClean="0"/>
              <a:t> DTD</a:t>
            </a:r>
            <a:r>
              <a:rPr lang="ko-KR" altLang="en-US" dirty="0" smtClean="0"/>
              <a:t>구조에 따른 </a:t>
            </a:r>
            <a:r>
              <a:rPr lang="en-US" altLang="ko-KR" dirty="0" smtClean="0"/>
              <a:t>Content description </a:t>
            </a:r>
            <a:r>
              <a:rPr lang="ko-KR" altLang="en-US" dirty="0" smtClean="0"/>
              <a:t>구조의 한 예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809AA9-1399-4377-92B8-5832B366A42E}" type="slidenum">
              <a:rPr lang="en-US" altLang="ko-KR" smtClean="0"/>
              <a:pPr/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58838" y="735013"/>
            <a:ext cx="4905375" cy="36798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전용 브라우저로 </a:t>
            </a:r>
            <a:r>
              <a:rPr lang="en-US" altLang="ko-KR" dirty="0" err="1" smtClean="0"/>
              <a:t>NewsML</a:t>
            </a:r>
            <a:r>
              <a:rPr lang="en-US" altLang="ko-KR" dirty="0" smtClean="0"/>
              <a:t> Content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브라우징</a:t>
            </a:r>
            <a:r>
              <a:rPr lang="ko-KR" altLang="en-US" dirty="0" smtClean="0"/>
              <a:t> 하는 모습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809AA9-1399-4377-92B8-5832B366A42E}" type="slidenum">
              <a:rPr lang="en-US" altLang="ko-KR" smtClean="0"/>
              <a:pPr/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30C192-8738-47C3-B876-B0619D8939C1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5939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SpeechML</a:t>
            </a:r>
          </a:p>
          <a:p>
            <a:pPr lvl="1"/>
            <a:r>
              <a:rPr lang="ko-KR" altLang="en-US"/>
              <a:t>웹 사이트와 사용자간의 </a:t>
            </a:r>
            <a:r>
              <a:rPr lang="en-US" altLang="ko-KR"/>
              <a:t>interaction</a:t>
            </a:r>
            <a:r>
              <a:rPr lang="ko-KR" altLang="en-US"/>
              <a:t>하는 수단으로 음성으로 명령하고 </a:t>
            </a:r>
            <a:br>
              <a:rPr lang="ko-KR" altLang="en-US"/>
            </a:br>
            <a:r>
              <a:rPr lang="ko-KR" altLang="en-US"/>
              <a:t>지정된 음성</a:t>
            </a:r>
            <a:r>
              <a:rPr lang="en-US" altLang="ko-KR"/>
              <a:t>, </a:t>
            </a:r>
            <a:r>
              <a:rPr lang="ko-KR" altLang="en-US"/>
              <a:t>음악</a:t>
            </a:r>
            <a:r>
              <a:rPr lang="en-US" altLang="ko-KR"/>
              <a:t>, </a:t>
            </a:r>
            <a:r>
              <a:rPr lang="ko-KR" altLang="en-US"/>
              <a:t>또는 합성된 소리로 응답을 받는 것을 목적으로 한 </a:t>
            </a:r>
            <a:r>
              <a:rPr lang="en-US" altLang="ko-KR"/>
              <a:t>Markup Language</a:t>
            </a:r>
          </a:p>
          <a:p>
            <a:pPr lvl="1"/>
            <a:endParaRPr lang="en-US" altLang="ko-KR"/>
          </a:p>
          <a:p>
            <a:pPr lvl="1"/>
            <a:r>
              <a:rPr lang="ko-KR" altLang="en-US"/>
              <a:t>전화를 이용한 </a:t>
            </a:r>
            <a:r>
              <a:rPr lang="en-US" altLang="ko-KR"/>
              <a:t>Web</a:t>
            </a:r>
            <a:r>
              <a:rPr lang="ko-KR" altLang="en-US"/>
              <a:t>기반 서비스 가능</a:t>
            </a:r>
          </a:p>
          <a:p>
            <a:pPr lvl="1"/>
            <a:r>
              <a:rPr lang="ko-KR" altLang="en-US"/>
              <a:t>시력에 문제가 있거나 손과 눈을 다른데 사용하면서 웹에 대한 접근을 필요로 하는 사람들에게 유용</a:t>
            </a:r>
          </a:p>
          <a:p>
            <a:pPr lvl="1"/>
            <a:r>
              <a:rPr lang="ko-KR" altLang="en-US"/>
              <a:t>마우스나 키보드가 없거나 불편한 경우 </a:t>
            </a:r>
            <a:r>
              <a:rPr lang="en-US" altLang="ko-KR"/>
              <a:t>display</a:t>
            </a:r>
            <a:r>
              <a:rPr lang="ko-KR" altLang="en-US"/>
              <a:t>되는 </a:t>
            </a:r>
            <a:r>
              <a:rPr lang="en-US" altLang="ko-KR"/>
              <a:t>Web content</a:t>
            </a:r>
            <a:r>
              <a:rPr lang="ko-KR" altLang="en-US"/>
              <a:t>와 효율적인 </a:t>
            </a:r>
            <a:r>
              <a:rPr lang="en-US" altLang="ko-KR"/>
              <a:t>interaction</a:t>
            </a:r>
            <a:r>
              <a:rPr lang="ko-KR" altLang="en-US"/>
              <a:t>이 가능하게 함</a:t>
            </a:r>
          </a:p>
          <a:p>
            <a:pPr lvl="1"/>
            <a:endParaRPr lang="ko-KR" altLang="en-US"/>
          </a:p>
          <a:p>
            <a:pPr lvl="1"/>
            <a:r>
              <a:rPr lang="ko-KR" altLang="en-US"/>
              <a:t>현재 </a:t>
            </a:r>
            <a:r>
              <a:rPr lang="en-US" altLang="ko-KR"/>
              <a:t>IBM</a:t>
            </a:r>
            <a:r>
              <a:rPr lang="ko-KR" altLang="en-US"/>
              <a:t>의 </a:t>
            </a:r>
            <a:r>
              <a:rPr lang="en-US" altLang="ko-KR"/>
              <a:t>SpeechML, Motorola VoxML, AT&amp;T</a:t>
            </a:r>
            <a:r>
              <a:rPr lang="ko-KR" altLang="en-US"/>
              <a:t>의 </a:t>
            </a:r>
            <a:r>
              <a:rPr lang="en-US" altLang="ko-KR"/>
              <a:t>PML</a:t>
            </a:r>
            <a:r>
              <a:rPr lang="ko-KR" altLang="en-US"/>
              <a:t>등이 통합되어 </a:t>
            </a:r>
            <a:r>
              <a:rPr lang="en-US" altLang="ko-KR"/>
              <a:t>VoiceXML </a:t>
            </a:r>
            <a:r>
              <a:rPr lang="ko-KR" altLang="en-US"/>
              <a:t>또는 </a:t>
            </a:r>
            <a:r>
              <a:rPr lang="en-US" altLang="ko-KR"/>
              <a:t>VXML</a:t>
            </a:r>
            <a:r>
              <a:rPr lang="ko-KR" altLang="en-US"/>
              <a:t>로 </a:t>
            </a:r>
            <a:r>
              <a:rPr lang="en-US" altLang="ko-KR"/>
              <a:t>W3C</a:t>
            </a:r>
            <a:r>
              <a:rPr lang="ko-KR" altLang="en-US"/>
              <a:t>에서 표준화 활동중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0F0D4F-D7E4-434D-876A-8A77E6E51C69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6041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Arial" pitchFamily="34" charset="0"/>
              </a:rPr>
              <a:t>UIML</a:t>
            </a:r>
          </a:p>
          <a:p>
            <a:pPr lvl="1"/>
            <a:r>
              <a:rPr lang="en-US" altLang="ko-KR">
                <a:latin typeface="Arial" pitchFamily="34" charset="0"/>
              </a:rPr>
              <a:t>An XML language for defining user interfaces</a:t>
            </a:r>
            <a:r>
              <a:rPr lang="en-US" altLang="ko-KR"/>
              <a:t> </a:t>
            </a:r>
          </a:p>
          <a:p>
            <a:pPr lvl="1"/>
            <a:r>
              <a:rPr lang="en-US" altLang="ko-KR">
                <a:solidFill>
                  <a:srgbClr val="000000"/>
                </a:solidFill>
                <a:latin typeface="Arial" pitchFamily="34" charset="0"/>
              </a:rPr>
              <a:t>The buttons, menus, lists and other controls allow a program to function in a graphical interface like Windows or Motif</a:t>
            </a:r>
            <a:r>
              <a:rPr lang="en-US" altLang="ko-KR"/>
              <a:t> </a:t>
            </a:r>
          </a:p>
          <a:p>
            <a:pPr lvl="1"/>
            <a:r>
              <a:rPr lang="en-US" altLang="ko-KR">
                <a:solidFill>
                  <a:srgbClr val="000000"/>
                </a:solidFill>
                <a:latin typeface="Arial" pitchFamily="34" charset="0"/>
              </a:rPr>
              <a:t>UIML is used to define the location, and design of controls. It also defines actions to take when certain events take place</a:t>
            </a:r>
            <a:r>
              <a:rPr lang="en-US" altLang="ko-KR"/>
              <a:t> </a:t>
            </a:r>
          </a:p>
          <a:p>
            <a:pPr lvl="1"/>
            <a:r>
              <a:rPr lang="en-US" altLang="ko-KR">
                <a:solidFill>
                  <a:srgbClr val="000000"/>
                </a:solidFill>
                <a:latin typeface="Arial" pitchFamily="34" charset="0"/>
              </a:rPr>
              <a:t>Users create events when they interact with the interface by typing a key on the keyboard or moving and clicking the mouse</a:t>
            </a:r>
            <a:endParaRPr lang="en-US" altLang="ko-KR"/>
          </a:p>
          <a:p>
            <a:pPr lvl="1"/>
            <a:r>
              <a:rPr lang="en-US" altLang="ko-KR"/>
              <a:t>UIML 2.0 spec</a:t>
            </a:r>
            <a:r>
              <a:rPr lang="ko-KR" altLang="en-US"/>
              <a:t>이 </a:t>
            </a:r>
            <a:r>
              <a:rPr lang="en-US" altLang="ko-KR"/>
              <a:t>01/17/2000</a:t>
            </a:r>
            <a:r>
              <a:rPr lang="ko-KR" altLang="en-US"/>
              <a:t>에 발표됨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4E6015-4348-4DC4-90E2-064D19152723}" type="slidenum">
              <a:rPr lang="en-US" altLang="ko-KR"/>
              <a:pPr/>
              <a:t>18</a:t>
            </a:fld>
            <a:endParaRPr lang="en-US" altLang="ko-KR"/>
          </a:p>
        </p:txBody>
      </p:sp>
      <p:sp>
        <p:nvSpPr>
          <p:cNvPr id="6144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r>
              <a:rPr lang="en-US" altLang="ko-KR"/>
              <a:t>WebML</a:t>
            </a:r>
          </a:p>
          <a:p>
            <a:pPr marL="685800" lvl="1" indent="-228600"/>
            <a:r>
              <a:rPr lang="en-US" altLang="ko-KR"/>
              <a:t>Designer</a:t>
            </a:r>
            <a:r>
              <a:rPr lang="ko-KR" altLang="en-US"/>
              <a:t>가 특정 </a:t>
            </a:r>
            <a:r>
              <a:rPr lang="en-US" altLang="ko-KR"/>
              <a:t>site</a:t>
            </a:r>
            <a:r>
              <a:rPr lang="ko-KR" altLang="en-US"/>
              <a:t>의 핵심 </a:t>
            </a:r>
            <a:r>
              <a:rPr lang="en-US" altLang="ko-KR"/>
              <a:t>feature</a:t>
            </a:r>
            <a:r>
              <a:rPr lang="ko-KR" altLang="en-US"/>
              <a:t>를 </a:t>
            </a:r>
            <a:r>
              <a:rPr lang="en-US" altLang="ko-KR"/>
              <a:t>high level</a:t>
            </a:r>
            <a:r>
              <a:rPr lang="ko-KR" altLang="en-US"/>
              <a:t>로 기술할 수 있도록 하는 </a:t>
            </a:r>
            <a:r>
              <a:rPr lang="en-US" altLang="ko-KR"/>
              <a:t>Notation</a:t>
            </a:r>
            <a:r>
              <a:rPr lang="ko-KR" altLang="en-US"/>
              <a:t>의 집합</a:t>
            </a:r>
          </a:p>
          <a:p>
            <a:pPr marL="685800" lvl="1" indent="-228600"/>
            <a:r>
              <a:rPr lang="ko-KR" altLang="en-US"/>
              <a:t>관점에 따른 </a:t>
            </a:r>
            <a:r>
              <a:rPr lang="en-US" altLang="ko-KR"/>
              <a:t>4</a:t>
            </a:r>
            <a:r>
              <a:rPr lang="ko-KR" altLang="en-US"/>
              <a:t>가지 모델이 존재</a:t>
            </a:r>
          </a:p>
          <a:p>
            <a:pPr marL="1143000" lvl="2" indent="-228600">
              <a:buFontTx/>
              <a:buAutoNum type="arabicPeriod"/>
            </a:pPr>
            <a:r>
              <a:rPr lang="en-US" altLang="ko-KR"/>
              <a:t>Structural Model</a:t>
            </a:r>
            <a:br>
              <a:rPr lang="en-US" altLang="ko-KR"/>
            </a:br>
            <a:r>
              <a:rPr lang="en-US" altLang="ko-KR"/>
              <a:t>site</a:t>
            </a:r>
            <a:r>
              <a:rPr lang="ko-KR" altLang="en-US"/>
              <a:t>의 </a:t>
            </a:r>
            <a:r>
              <a:rPr lang="en-US" altLang="ko-KR"/>
              <a:t>data content</a:t>
            </a:r>
            <a:r>
              <a:rPr lang="ko-KR" altLang="en-US"/>
              <a:t>를 표현하기 위한 모델</a:t>
            </a:r>
            <a:br>
              <a:rPr lang="ko-KR" altLang="en-US"/>
            </a:br>
            <a:r>
              <a:rPr lang="ko-KR" altLang="en-US"/>
              <a:t>관련 있는 </a:t>
            </a:r>
            <a:r>
              <a:rPr lang="en-US" altLang="ko-KR"/>
              <a:t>entity</a:t>
            </a:r>
            <a:r>
              <a:rPr lang="ko-KR" altLang="en-US"/>
              <a:t>와 그들 간의 관계에 의해서 기술</a:t>
            </a:r>
            <a:br>
              <a:rPr lang="ko-KR" altLang="en-US"/>
            </a:br>
            <a:r>
              <a:rPr lang="en-US" altLang="ko-KR"/>
              <a:t>E/R model, ODMG OO model, UML class diagram</a:t>
            </a:r>
            <a:r>
              <a:rPr lang="ko-KR" altLang="en-US"/>
              <a:t>과 호환가능</a:t>
            </a:r>
          </a:p>
          <a:p>
            <a:pPr marL="1143000" lvl="2" indent="-228600">
              <a:buFontTx/>
              <a:buAutoNum type="arabicPeriod"/>
            </a:pPr>
            <a:r>
              <a:rPr lang="en-US" altLang="ko-KR"/>
              <a:t>Hypertext Model</a:t>
            </a:r>
            <a:br>
              <a:rPr lang="en-US" altLang="ko-KR"/>
            </a:br>
            <a:r>
              <a:rPr lang="ko-KR" altLang="en-US"/>
              <a:t>하나 또는 그 이상의 </a:t>
            </a:r>
            <a:r>
              <a:rPr lang="en-US" altLang="ko-KR"/>
              <a:t>hypertext</a:t>
            </a:r>
            <a:r>
              <a:rPr lang="ko-KR" altLang="en-US"/>
              <a:t>들을 기술함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Site-view</a:t>
            </a:r>
            <a:r>
              <a:rPr lang="ko-KR" altLang="en-US"/>
              <a:t>라고도 하며 다음 두 모델로 구성됨</a:t>
            </a:r>
          </a:p>
          <a:p>
            <a:pPr marL="1600200" lvl="3" indent="-228600">
              <a:buFontTx/>
              <a:buAutoNum type="arabicPeriod"/>
            </a:pPr>
            <a:r>
              <a:rPr lang="en-US" altLang="ko-KR"/>
              <a:t>Composition Model</a:t>
            </a:r>
            <a:br>
              <a:rPr lang="en-US" altLang="ko-KR"/>
            </a:br>
            <a:r>
              <a:rPr lang="en-US" altLang="ko-KR"/>
              <a:t>page</a:t>
            </a:r>
            <a:r>
              <a:rPr lang="ko-KR" altLang="en-US"/>
              <a:t>를 구성하는 </a:t>
            </a:r>
            <a:r>
              <a:rPr lang="en-US" altLang="ko-KR"/>
              <a:t>content unit</a:t>
            </a:r>
            <a:r>
              <a:rPr lang="ko-KR" altLang="en-US"/>
              <a:t>들과 어느</a:t>
            </a:r>
            <a:r>
              <a:rPr lang="en-US" altLang="ko-KR"/>
              <a:t>page hypertext</a:t>
            </a:r>
            <a:r>
              <a:rPr lang="ko-KR" altLang="en-US"/>
              <a:t>를 포함하는지를 기술</a:t>
            </a:r>
          </a:p>
          <a:p>
            <a:pPr marL="1600200" lvl="3" indent="-228600">
              <a:buFontTx/>
              <a:buAutoNum type="arabicPeriod"/>
            </a:pPr>
            <a:r>
              <a:rPr lang="en-US" altLang="ko-KR"/>
              <a:t>Navigation Model</a:t>
            </a:r>
            <a:br>
              <a:rPr lang="en-US" altLang="ko-KR"/>
            </a:br>
            <a:r>
              <a:rPr lang="ko-KR" altLang="en-US"/>
              <a:t>어떻게 페이지와 </a:t>
            </a:r>
            <a:r>
              <a:rPr lang="en-US" altLang="ko-KR"/>
              <a:t>content unit</a:t>
            </a:r>
            <a:r>
              <a:rPr lang="ko-KR" altLang="en-US"/>
              <a:t>들이 연결되어 </a:t>
            </a:r>
            <a:r>
              <a:rPr lang="en-US" altLang="ko-KR"/>
              <a:t>hypertext</a:t>
            </a:r>
            <a:r>
              <a:rPr lang="ko-KR" altLang="en-US"/>
              <a:t>를 구성하는 지를 표현</a:t>
            </a:r>
          </a:p>
          <a:p>
            <a:pPr marL="1143000" lvl="2" indent="-228600">
              <a:buFontTx/>
              <a:buAutoNum type="arabicPeriod"/>
            </a:pPr>
            <a:r>
              <a:rPr lang="en-US" altLang="ko-KR"/>
              <a:t>Presentation Model</a:t>
            </a:r>
            <a:br>
              <a:rPr lang="en-US" altLang="ko-KR"/>
            </a:br>
            <a:r>
              <a:rPr lang="en-US" altLang="ko-KR"/>
              <a:t>XML syntax</a:t>
            </a:r>
            <a:r>
              <a:rPr lang="ko-KR" altLang="en-US"/>
              <a:t>로 출력 장치나 언어에 무관하게 </a:t>
            </a:r>
            <a:r>
              <a:rPr lang="en-US" altLang="ko-KR"/>
              <a:t>page</a:t>
            </a:r>
            <a:r>
              <a:rPr lang="ko-KR" altLang="en-US"/>
              <a:t>의 </a:t>
            </a:r>
            <a:r>
              <a:rPr lang="en-US" altLang="ko-KR"/>
              <a:t>layout</a:t>
            </a:r>
            <a:r>
              <a:rPr lang="ko-KR" altLang="en-US"/>
              <a:t>과 그래픽 형태를 표현</a:t>
            </a:r>
          </a:p>
          <a:p>
            <a:pPr marL="1143000" lvl="2" indent="-228600">
              <a:buFontTx/>
              <a:buAutoNum type="arabicPeriod"/>
            </a:pPr>
            <a:r>
              <a:rPr lang="en-US" altLang="ko-KR"/>
              <a:t>Personalization Model</a:t>
            </a:r>
            <a:br>
              <a:rPr lang="en-US" altLang="ko-KR"/>
            </a:br>
            <a:r>
              <a:rPr lang="ko-KR" altLang="en-US"/>
              <a:t>특정 사용자들이나 사용자 그룹에 특화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58838" y="735013"/>
            <a:ext cx="4905375" cy="36798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CDNow</a:t>
            </a:r>
            <a:r>
              <a:rPr lang="en-US" altLang="ko-KR" dirty="0" smtClean="0"/>
              <a:t> Site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WebML</a:t>
            </a:r>
            <a:r>
              <a:rPr lang="en-US" altLang="ko-KR" dirty="0" smtClean="0"/>
              <a:t> modeling </a:t>
            </a:r>
            <a:r>
              <a:rPr lang="ko-KR" altLang="en-US" dirty="0" smtClean="0"/>
              <a:t>예</a:t>
            </a:r>
            <a:r>
              <a:rPr lang="en-US" altLang="ko-KR" dirty="0" smtClean="0"/>
              <a:t>(</a:t>
            </a:r>
            <a:r>
              <a:rPr lang="ko-KR" altLang="en-US" dirty="0" smtClean="0"/>
              <a:t>출처 </a:t>
            </a:r>
            <a:r>
              <a:rPr lang="en-US" altLang="ko-KR" dirty="0" smtClean="0"/>
              <a:t>: http://xerox.elet.polimi.it/webml/readings/webmlnutshell.html)</a:t>
            </a:r>
          </a:p>
          <a:p>
            <a:r>
              <a:rPr lang="en-US" altLang="ko-KR" dirty="0" smtClean="0"/>
              <a:t>Structure schema(Structural Model)</a:t>
            </a:r>
          </a:p>
          <a:p>
            <a:pPr lvl="1"/>
            <a:r>
              <a:rPr lang="en-US" altLang="ko-KR" dirty="0" smtClean="0"/>
              <a:t>Album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artist</a:t>
            </a:r>
            <a:r>
              <a:rPr lang="ko-KR" altLang="en-US" dirty="0" smtClean="0"/>
              <a:t>에 대한 간단한 </a:t>
            </a:r>
            <a:r>
              <a:rPr lang="en-US" altLang="ko-KR" dirty="0" smtClean="0"/>
              <a:t>structure schema</a:t>
            </a:r>
            <a:r>
              <a:rPr lang="ko-KR" altLang="en-US" dirty="0" smtClean="0"/>
              <a:t>를 보여줌</a:t>
            </a:r>
          </a:p>
          <a:p>
            <a:pPr lvl="1"/>
            <a:r>
              <a:rPr lang="en-US" altLang="ko-KR" dirty="0" err="1" smtClean="0"/>
              <a:t>Atritst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biographic information, track</a:t>
            </a:r>
            <a:r>
              <a:rPr lang="ko-KR" altLang="en-US" dirty="0" smtClean="0"/>
              <a:t>들로 구성된 </a:t>
            </a:r>
            <a:r>
              <a:rPr lang="en-US" altLang="ko-KR" dirty="0" smtClean="0"/>
              <a:t>publish albums, </a:t>
            </a:r>
            <a:r>
              <a:rPr lang="ko-KR" altLang="en-US" dirty="0" smtClean="0"/>
              <a:t>그리고 </a:t>
            </a:r>
            <a:r>
              <a:rPr lang="en-US" altLang="ko-KR" dirty="0" smtClean="0"/>
              <a:t>review</a:t>
            </a:r>
            <a:r>
              <a:rPr lang="ko-KR" altLang="en-US" dirty="0" smtClean="0"/>
              <a:t>를 포함하고 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이런 정보를 </a:t>
            </a:r>
            <a:r>
              <a:rPr lang="en-US" altLang="ko-KR" dirty="0" smtClean="0"/>
              <a:t>Web</a:t>
            </a:r>
            <a:r>
              <a:rPr lang="ko-KR" altLang="en-US" dirty="0" smtClean="0"/>
              <a:t>에 표현하기 위해서 페이지가 어떻게 구성되고 </a:t>
            </a:r>
            <a:r>
              <a:rPr lang="en-US" altLang="ko-KR" dirty="0" err="1" smtClean="0"/>
              <a:t>naviation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할 것인지에 대한 기술이 필요</a:t>
            </a:r>
          </a:p>
          <a:p>
            <a:pPr lvl="1"/>
            <a:r>
              <a:rPr lang="ko-KR" altLang="en-US" dirty="0" smtClean="0"/>
              <a:t>  </a:t>
            </a:r>
            <a:r>
              <a:rPr lang="en-US" altLang="ko-KR" dirty="0" smtClean="0"/>
              <a:t>=&gt; site view(hypertext model)</a:t>
            </a:r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A site view defined in </a:t>
            </a:r>
            <a:r>
              <a:rPr lang="en-US" altLang="ko-KR" dirty="0" err="1" smtClean="0"/>
              <a:t>WebML</a:t>
            </a:r>
            <a:r>
              <a:rPr lang="en-US" altLang="ko-KR" dirty="0" smtClean="0"/>
              <a:t>(Hypertext Model)</a:t>
            </a:r>
          </a:p>
          <a:p>
            <a:pPr lvl="1"/>
            <a:r>
              <a:rPr lang="en-US" altLang="ko-KR" dirty="0" err="1" smtClean="0"/>
              <a:t>AlbumPage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AblumInfo</a:t>
            </a:r>
            <a:r>
              <a:rPr lang="en-US" altLang="ko-KR" dirty="0" smtClean="0"/>
              <a:t> data unit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album</a:t>
            </a:r>
            <a:r>
              <a:rPr lang="ko-KR" altLang="en-US" dirty="0" smtClean="0"/>
              <a:t>에 대한 </a:t>
            </a:r>
            <a:r>
              <a:rPr lang="en-US" altLang="ko-KR" dirty="0" err="1" smtClean="0"/>
              <a:t>trackIndex</a:t>
            </a:r>
            <a:r>
              <a:rPr lang="en-US" altLang="ko-KR" dirty="0" smtClean="0"/>
              <a:t> </a:t>
            </a:r>
            <a:br>
              <a:rPr lang="en-US" altLang="ko-KR" dirty="0" smtClean="0"/>
            </a:br>
            <a:r>
              <a:rPr lang="ko-KR" altLang="en-US" dirty="0" smtClean="0"/>
              <a:t>그리고 </a:t>
            </a:r>
            <a:r>
              <a:rPr lang="en-US" altLang="ko-KR" dirty="0" err="1" smtClean="0"/>
              <a:t>AlbumInfo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data unit</a:t>
            </a:r>
            <a:r>
              <a:rPr lang="ko-KR" altLang="en-US" dirty="0" smtClean="0"/>
              <a:t>인 </a:t>
            </a:r>
            <a:r>
              <a:rPr lang="en-US" altLang="ko-KR" dirty="0" err="1" smtClean="0"/>
              <a:t>ArtistInfo</a:t>
            </a:r>
            <a:r>
              <a:rPr lang="ko-KR" altLang="en-US" dirty="0" smtClean="0"/>
              <a:t>를 연결시켜주는 </a:t>
            </a:r>
            <a:r>
              <a:rPr lang="en-US" altLang="ko-KR" dirty="0" err="1" smtClean="0"/>
              <a:t>ToArtist</a:t>
            </a:r>
            <a:r>
              <a:rPr lang="en-US" altLang="ko-KR" dirty="0" smtClean="0"/>
              <a:t> direct unit</a:t>
            </a:r>
            <a:r>
              <a:rPr lang="ko-KR" altLang="en-US" dirty="0" smtClean="0"/>
              <a:t>으로 구성되어 있고</a:t>
            </a:r>
          </a:p>
          <a:p>
            <a:pPr lvl="1"/>
            <a:r>
              <a:rPr lang="en-US" altLang="ko-KR" dirty="0" err="1" smtClean="0"/>
              <a:t>ArtistInfo</a:t>
            </a:r>
            <a:r>
              <a:rPr lang="en-US" altLang="ko-KR" dirty="0" smtClean="0"/>
              <a:t> data unit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BioPage</a:t>
            </a:r>
            <a:r>
              <a:rPr lang="ko-KR" altLang="en-US" dirty="0" smtClean="0"/>
              <a:t>에 대한 </a:t>
            </a:r>
            <a:r>
              <a:rPr lang="en-US" altLang="ko-KR" dirty="0" smtClean="0"/>
              <a:t>direct unit</a:t>
            </a:r>
            <a:r>
              <a:rPr lang="ko-KR" altLang="en-US" dirty="0" smtClean="0"/>
              <a:t>인 </a:t>
            </a:r>
            <a:r>
              <a:rPr lang="en-US" altLang="ko-KR" dirty="0" err="1" smtClean="0"/>
              <a:t>ArtistBio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ReviewsPage</a:t>
            </a:r>
            <a:r>
              <a:rPr lang="ko-KR" altLang="en-US" dirty="0" smtClean="0"/>
              <a:t>에 대한 링크로 구성 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여기서 </a:t>
            </a:r>
            <a:r>
              <a:rPr lang="en-US" altLang="ko-KR" dirty="0" smtClean="0"/>
              <a:t>direct unit</a:t>
            </a:r>
            <a:r>
              <a:rPr lang="ko-KR" altLang="en-US" dirty="0" smtClean="0"/>
              <a:t>은 문법적인 편의를 위한 것으로 </a:t>
            </a:r>
            <a:r>
              <a:rPr lang="en-US" altLang="ko-KR" dirty="0" err="1" smtClean="0"/>
              <a:t>ArtistInfo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BioPage</a:t>
            </a:r>
            <a:r>
              <a:rPr lang="ko-KR" altLang="en-US" dirty="0" smtClean="0"/>
              <a:t>간에 </a:t>
            </a:r>
            <a:r>
              <a:rPr lang="en-US" altLang="ko-KR" dirty="0" smtClean="0"/>
              <a:t>1:1</a:t>
            </a:r>
            <a:r>
              <a:rPr lang="ko-KR" altLang="en-US" dirty="0" smtClean="0"/>
              <a:t>관계를 항상 가진다는 것을 나타낸다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809AA9-1399-4377-92B8-5832B366A42E}" type="slidenum">
              <a:rPr lang="en-US" altLang="ko-KR" smtClean="0"/>
              <a:pPr/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58838" y="735013"/>
            <a:ext cx="4905375" cy="36798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/>
              <a:t>CDNow</a:t>
            </a:r>
            <a:r>
              <a:rPr lang="en-US" altLang="ko-KR" dirty="0" smtClean="0"/>
              <a:t> site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site view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809AA9-1399-4377-92B8-5832B366A42E}" type="slidenum">
              <a:rPr lang="en-US" altLang="ko-KR" smtClean="0"/>
              <a:pPr/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A818E8-6A0F-4184-BDDB-AA6B554841C7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6451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돋움" pitchFamily="50" charset="-127"/>
                <a:ea typeface="돋움" pitchFamily="50" charset="-127"/>
              </a:rPr>
              <a:t>SMIL(smile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이라고 읽는다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, </a:t>
            </a:r>
            <a:r>
              <a:rPr lang="en-US" altLang="ko-KR">
                <a:latin typeface="Times New Roman"/>
                <a:ea typeface="돋움" pitchFamily="50" charset="-127"/>
              </a:rPr>
              <a:t>“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스밀이 아님</a:t>
            </a:r>
            <a:r>
              <a:rPr lang="ko-KR" altLang="en-US">
                <a:latin typeface="Times New Roman"/>
                <a:ea typeface="돋움" pitchFamily="50" charset="-127"/>
              </a:rPr>
              <a:t>”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)</a:t>
            </a:r>
          </a:p>
          <a:p>
            <a:endParaRPr lang="en-US" altLang="ko-KR">
              <a:latin typeface="돋움" pitchFamily="50" charset="-127"/>
              <a:ea typeface="돋움" pitchFamily="50" charset="-127"/>
            </a:endParaRPr>
          </a:p>
          <a:p>
            <a:r>
              <a:rPr lang="en-US" altLang="ko-KR">
                <a:latin typeface="돋움" pitchFamily="50" charset="-127"/>
                <a:ea typeface="돋움" pitchFamily="50" charset="-127"/>
              </a:rPr>
              <a:t>SMIL 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목표</a:t>
            </a:r>
          </a:p>
          <a:p>
            <a:pPr lvl="1"/>
            <a:r>
              <a:rPr lang="ko-KR" altLang="en-US">
                <a:latin typeface="돋움" pitchFamily="50" charset="-127"/>
                <a:ea typeface="돋움" pitchFamily="50" charset="-127"/>
              </a:rPr>
              <a:t>①인터랙티브한 멀티미디어 프리젠테이션을 제작하는데 쓰이는 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XML 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기반 언어를 정의한다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.</a:t>
            </a:r>
          </a:p>
          <a:p>
            <a:pPr lvl="2"/>
            <a:r>
              <a:rPr lang="ko-KR" altLang="en-US">
                <a:latin typeface="돋움" pitchFamily="50" charset="-127"/>
                <a:ea typeface="돋움" pitchFamily="50" charset="-127"/>
              </a:rPr>
              <a:t>멀티미디어 프리젠테이션의 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temporal behavior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를 표현</a:t>
            </a:r>
          </a:p>
          <a:p>
            <a:pPr lvl="2"/>
            <a:r>
              <a:rPr lang="ko-KR" altLang="en-US">
                <a:latin typeface="돋움" pitchFamily="50" charset="-127"/>
                <a:ea typeface="돋움" pitchFamily="50" charset="-127"/>
              </a:rPr>
              <a:t>스크린 상에 프리젠테이션의 레이아웃을 표현</a:t>
            </a:r>
          </a:p>
          <a:p>
            <a:pPr lvl="2"/>
            <a:r>
              <a:rPr lang="ko-KR" altLang="en-US">
                <a:latin typeface="돋움" pitchFamily="50" charset="-127"/>
                <a:ea typeface="돋움" pitchFamily="50" charset="-127"/>
              </a:rPr>
              <a:t>각 미디어 객체에 링크를 건다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.</a:t>
            </a:r>
            <a:endParaRPr lang="en-US" altLang="ko-KR">
              <a:latin typeface="바탕" pitchFamily="18" charset="-127"/>
              <a:cs typeface="Times New Roman" pitchFamily="18" charset="0"/>
            </a:endParaRPr>
          </a:p>
          <a:p>
            <a:pPr lvl="1"/>
            <a:r>
              <a:rPr lang="en-US" altLang="ko-KR">
                <a:latin typeface="돋움" pitchFamily="50" charset="-127"/>
                <a:ea typeface="돋움" pitchFamily="50" charset="-127"/>
              </a:rPr>
              <a:t>② 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다른 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XML 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기반 언어에서 스마일 구문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(syntax)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과 의미체계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(semantics)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의 재사용을 가능케 한다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.</a:t>
            </a:r>
          </a:p>
          <a:p>
            <a:pPr lvl="2"/>
            <a:r>
              <a:rPr lang="en-US" altLang="ko-KR">
                <a:latin typeface="돋움" pitchFamily="50" charset="-127"/>
                <a:ea typeface="돋움" pitchFamily="50" charset="-127"/>
              </a:rPr>
              <a:t>-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특히 타이밍과 동기화를 필요로 하는 언어에서</a:t>
            </a:r>
          </a:p>
          <a:p>
            <a:pPr lvl="2"/>
            <a:r>
              <a:rPr lang="ko-KR" altLang="en-US">
                <a:latin typeface="돋움" pitchFamily="50" charset="-127"/>
                <a:ea typeface="돋움" pitchFamily="50" charset="-127"/>
              </a:rPr>
              <a:t>예</a:t>
            </a:r>
            <a:r>
              <a:rPr lang="en-US" altLang="ko-KR">
                <a:latin typeface="돋움" pitchFamily="50" charset="-127"/>
                <a:ea typeface="돋움" pitchFamily="50" charset="-127"/>
              </a:rPr>
              <a:t>) SMIL 2.0 </a:t>
            </a:r>
            <a:r>
              <a:rPr lang="ko-KR" altLang="en-US">
                <a:latin typeface="돋움" pitchFamily="50" charset="-127"/>
                <a:ea typeface="돋움" pitchFamily="50" charset="-127"/>
              </a:rPr>
              <a:t>컴포넌트는 </a:t>
            </a:r>
            <a:r>
              <a:rPr lang="en-US" altLang="ko-KR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XHTML </a:t>
            </a:r>
          </a:p>
          <a:p>
            <a:endParaRPr lang="en-US" altLang="ko-KR"/>
          </a:p>
          <a:p>
            <a:r>
              <a:rPr lang="ko-KR" altLang="en-US"/>
              <a:t>현재 </a:t>
            </a:r>
            <a:r>
              <a:rPr lang="en-US" altLang="ko-KR"/>
              <a:t>SMIL 2.0 version</a:t>
            </a:r>
            <a:r>
              <a:rPr lang="ko-KR" altLang="en-US"/>
              <a:t>이 </a:t>
            </a:r>
            <a:r>
              <a:rPr lang="en-US" altLang="ko-KR"/>
              <a:t>W3C working draft</a:t>
            </a:r>
            <a:r>
              <a:rPr lang="ko-KR" altLang="en-US"/>
              <a:t>로 </a:t>
            </a:r>
            <a:r>
              <a:rPr lang="en-US" altLang="ko-KR"/>
              <a:t>2001</a:t>
            </a:r>
            <a:r>
              <a:rPr lang="ko-KR" altLang="en-US"/>
              <a:t>년 </a:t>
            </a:r>
            <a:r>
              <a:rPr lang="en-US" altLang="ko-KR"/>
              <a:t>3</a:t>
            </a:r>
            <a:r>
              <a:rPr lang="ko-KR" altLang="en-US"/>
              <a:t>월에 제출됨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F84E59-8ECB-40A3-82EF-53A0B5212891}" type="slidenum">
              <a:rPr lang="en-US" altLang="ko-KR"/>
              <a:pPr/>
              <a:t>22</a:t>
            </a:fld>
            <a:endParaRPr lang="en-US" altLang="ko-KR"/>
          </a:p>
        </p:txBody>
      </p:sp>
      <p:sp>
        <p:nvSpPr>
          <p:cNvPr id="6553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Title, author, copyright</a:t>
            </a:r>
            <a:r>
              <a:rPr lang="ko-KR" altLang="en-US"/>
              <a:t>들에 대한 기술과 </a:t>
            </a:r>
            <a:r>
              <a:rPr lang="en-US" altLang="ko-KR"/>
              <a:t>3</a:t>
            </a:r>
            <a:r>
              <a:rPr lang="ko-KR" altLang="en-US"/>
              <a:t>가지 </a:t>
            </a:r>
            <a:r>
              <a:rPr lang="en-US" altLang="ko-KR"/>
              <a:t>layout</a:t>
            </a:r>
            <a:r>
              <a:rPr lang="ko-KR" altLang="en-US"/>
              <a:t>을 정의하고 각 </a:t>
            </a:r>
            <a:r>
              <a:rPr lang="en-US" altLang="ko-KR"/>
              <a:t>layout</a:t>
            </a:r>
            <a:r>
              <a:rPr lang="ko-KR" altLang="en-US"/>
              <a:t>의 내용을 </a:t>
            </a:r>
            <a:r>
              <a:rPr lang="en-US" altLang="ko-KR"/>
              <a:t>body</a:t>
            </a:r>
            <a:r>
              <a:rPr lang="ko-KR" altLang="en-US"/>
              <a:t>안에서 기술하고 있다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158056-E802-4208-9048-B5363D7AFB60}" type="slidenum">
              <a:rPr lang="en-US" altLang="ko-KR"/>
              <a:pPr/>
              <a:t>23</a:t>
            </a:fld>
            <a:endParaRPr lang="en-US" altLang="ko-KR"/>
          </a:p>
        </p:txBody>
      </p:sp>
      <p:sp>
        <p:nvSpPr>
          <p:cNvPr id="6656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MPEG-7</a:t>
            </a:r>
          </a:p>
          <a:p>
            <a:pPr lvl="1"/>
            <a:r>
              <a:rPr lang="en-US" altLang="ko-KR"/>
              <a:t>Multimedia content</a:t>
            </a:r>
            <a:r>
              <a:rPr lang="ko-KR" altLang="en-US"/>
              <a:t>에 대한 정보검색을 목적으로 어떻게 </a:t>
            </a:r>
            <a:r>
              <a:rPr lang="en-US" altLang="ko-KR"/>
              <a:t>content</a:t>
            </a:r>
            <a:r>
              <a:rPr lang="ko-KR" altLang="en-US"/>
              <a:t>에 대한 정보를 기술할 것인가에 관한 표준</a:t>
            </a:r>
          </a:p>
          <a:p>
            <a:pPr lvl="1"/>
            <a:r>
              <a:rPr lang="en-US" altLang="ko-KR"/>
              <a:t>Multimedia content</a:t>
            </a:r>
            <a:r>
              <a:rPr lang="ko-KR" altLang="en-US"/>
              <a:t>에 대한 정보를 표현하는 언어로서 </a:t>
            </a:r>
            <a:r>
              <a:rPr lang="en-US" altLang="ko-KR"/>
              <a:t>XML</a:t>
            </a:r>
            <a:r>
              <a:rPr lang="ko-KR" altLang="en-US"/>
              <a:t>을 사용</a:t>
            </a:r>
          </a:p>
          <a:p>
            <a:pPr lvl="1"/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84FEC0-2E36-433B-AE1F-B11B9907DD34}" type="slidenum">
              <a:rPr lang="en-US" altLang="ko-KR"/>
              <a:pPr/>
              <a:t>24</a:t>
            </a:fld>
            <a:endParaRPr lang="en-US" altLang="ko-KR"/>
          </a:p>
        </p:txBody>
      </p:sp>
      <p:sp>
        <p:nvSpPr>
          <p:cNvPr id="6758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DDL</a:t>
            </a:r>
          </a:p>
          <a:p>
            <a:pPr lvl="1"/>
            <a:r>
              <a:rPr lang="en-US" altLang="ko-KR" dirty="0">
                <a:ea typeface="바탕" pitchFamily="18" charset="-127"/>
              </a:rPr>
              <a:t>The language allows the creation of MPEG-7 Description Schemes and Descriptors</a:t>
            </a:r>
          </a:p>
          <a:p>
            <a:pPr lvl="1"/>
            <a:r>
              <a:rPr lang="en-US" altLang="ko-KR" dirty="0">
                <a:ea typeface="바탕" pitchFamily="18" charset="-127"/>
              </a:rPr>
              <a:t>A DDL schema specifies the constraints</a:t>
            </a:r>
          </a:p>
          <a:p>
            <a:pPr lvl="1"/>
            <a:r>
              <a:rPr lang="en-US" altLang="ko-KR" b="1" dirty="0">
                <a:ea typeface="바탕" pitchFamily="18" charset="-127"/>
              </a:rPr>
              <a:t>XML Schema Language</a:t>
            </a:r>
            <a:r>
              <a:rPr lang="en-US" altLang="ko-KR" dirty="0">
                <a:ea typeface="바탕" pitchFamily="18" charset="-127"/>
              </a:rPr>
              <a:t> as the DDL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>
                <a:ea typeface="바탕" pitchFamily="18" charset="-127"/>
              </a:rPr>
              <a:t>The DDL AHG decided to add multimedia content descriptions require specific features to XML Schema </a:t>
            </a:r>
            <a:r>
              <a:rPr lang="en-US" altLang="ko-KR" dirty="0" smtClean="0">
                <a:ea typeface="바탕" pitchFamily="18" charset="-127"/>
              </a:rPr>
              <a:t>Language</a:t>
            </a:r>
          </a:p>
          <a:p>
            <a:pPr lvl="1"/>
            <a:endParaRPr lang="en-US" altLang="ko-KR" dirty="0" smtClean="0">
              <a:ea typeface="바탕" pitchFamily="18" charset="-127"/>
            </a:endParaRPr>
          </a:p>
          <a:p>
            <a:pPr lvl="1"/>
            <a:endParaRPr lang="en-US" altLang="ko-KR" dirty="0" smtClean="0">
              <a:ea typeface="바탕" pitchFamily="18" charset="-127"/>
            </a:endParaRPr>
          </a:p>
          <a:p>
            <a:r>
              <a:rPr lang="en-US" altLang="ko-KR" dirty="0" smtClean="0"/>
              <a:t>Application</a:t>
            </a:r>
          </a:p>
          <a:p>
            <a:pPr lvl="1"/>
            <a:r>
              <a:rPr lang="ko-KR" altLang="en-US" dirty="0" smtClean="0"/>
              <a:t>상기 이외</a:t>
            </a:r>
          </a:p>
          <a:p>
            <a:pPr lvl="1"/>
            <a:r>
              <a:rPr lang="ko-KR" altLang="en-GB" dirty="0" smtClean="0">
                <a:latin typeface="Times New Roman"/>
                <a:ea typeface="TIMES"/>
                <a:cs typeface="TIMES"/>
              </a:rPr>
              <a:t>·</a:t>
            </a:r>
            <a:r>
              <a:rPr lang="ko-KR" altLang="en-GB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Education,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Journalism (e.g. searching speeches of a certain politician using his name, his voice or his face),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Tourist information,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Cultural services (history museums, art galleries, etc.),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Entertainment (e.g. searching a game, karaoke),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Investigation services (human characteristics recognition, forensics),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Geographical information systems,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Remote sensing (cartography, ecology, natural resources management, etc.),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Surveillance (traffic control, surface transportation, non-destructive testing in hostile environments, etc.),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Bio-medical applications,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Shopping (e.g. searching for clothes that you like),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GB" altLang="ko-KR" dirty="0" smtClean="0">
                <a:ea typeface="TIMES"/>
                <a:cs typeface="TIMES"/>
              </a:rPr>
              <a:t>Architecture, real estate, and interior design,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 </a:t>
            </a:r>
            <a:r>
              <a:rPr lang="en-GB" altLang="ko-KR" dirty="0" smtClean="0">
                <a:ea typeface="TIMES"/>
                <a:cs typeface="TIMES"/>
              </a:rPr>
              <a:t>Social (e.g. dating services), and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r>
              <a:rPr lang="en-GB" altLang="ko-KR" dirty="0" smtClean="0">
                <a:latin typeface="Times New Roman"/>
                <a:ea typeface="TIMES"/>
                <a:cs typeface="TIMES"/>
              </a:rPr>
              <a:t>·</a:t>
            </a:r>
            <a:r>
              <a:rPr lang="en-GB" altLang="ko-KR" dirty="0" smtClean="0">
                <a:latin typeface="Times New Roman" pitchFamily="18" charset="0"/>
                <a:cs typeface="Times New Roman" pitchFamily="18" charset="0"/>
              </a:rPr>
              <a:t>  </a:t>
            </a:r>
            <a:r>
              <a:rPr lang="en-GB" altLang="ko-KR" dirty="0" smtClean="0">
                <a:ea typeface="TIMES"/>
                <a:cs typeface="TIMES"/>
              </a:rPr>
              <a:t>Film, Video and Radio archives.</a:t>
            </a:r>
            <a:endParaRPr lang="en-US" altLang="ko-KR" dirty="0" smtClean="0">
              <a:ea typeface="TIMES"/>
              <a:cs typeface="TIMES"/>
            </a:endParaRPr>
          </a:p>
          <a:p>
            <a:pPr lvl="1"/>
            <a:endParaRPr lang="en-US" altLang="ko-KR" dirty="0" smtClean="0"/>
          </a:p>
          <a:p>
            <a:pPr lvl="1"/>
            <a:endParaRPr lang="en-US" altLang="ko-KR" dirty="0">
              <a:ea typeface="바탕" pitchFamily="18" charset="-127"/>
            </a:endParaRPr>
          </a:p>
          <a:p>
            <a:pPr lvl="1"/>
            <a:endParaRPr lang="en-US" altLang="ko-KR" dirty="0">
              <a:ea typeface="바탕" pitchFamily="18" charset="-127"/>
            </a:endParaRPr>
          </a:p>
          <a:p>
            <a:endParaRPr lang="en-US" altLang="ko-KR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58838" y="735013"/>
            <a:ext cx="4905375" cy="36798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 hypothetical MPEG-7 chain in practice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The circular box : </a:t>
            </a:r>
            <a:r>
              <a:rPr lang="en-US" altLang="ko-KR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depict tools that are doing things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such as encoding or decoding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lvl="1"/>
            <a:r>
              <a:rPr lang="en-US" altLang="ko-KR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The square boxes : represent static elements(such as a description)</a:t>
            </a:r>
          </a:p>
          <a:p>
            <a:pPr lvl="1"/>
            <a:r>
              <a:rPr lang="en-US" altLang="ko-KR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The dotted boxes : the normative elements of the MPEG-7 standard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809AA9-1399-4377-92B8-5832B366A42E}" type="slidenum">
              <a:rPr lang="en-US" altLang="ko-KR" smtClean="0"/>
              <a:pPr/>
              <a:t>25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930788-0C49-4FCA-B8E7-0E5498ACAA3B}" type="slidenum">
              <a:rPr lang="en-US" altLang="ko-KR"/>
              <a:pPr/>
              <a:t>28</a:t>
            </a:fld>
            <a:endParaRPr lang="en-US" altLang="ko-KR"/>
          </a:p>
        </p:txBody>
      </p:sp>
      <p:sp>
        <p:nvSpPr>
          <p:cNvPr id="7065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Because JavaML is an XML application, it is easy to parse, and all existing tools for working with XML can be applied to Java source code in its JavaML representation</a:t>
            </a:r>
          </a:p>
          <a:p>
            <a:r>
              <a:rPr lang="en-US" altLang="ko-KR"/>
              <a:t>JavaML tools can leverage the existing infrastructure and exploit the canonical representation to improve their inter-operability</a:t>
            </a:r>
          </a:p>
          <a:p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D43A92-376C-4C25-933E-40769925406D}" type="slidenum">
              <a:rPr lang="en-US" altLang="ko-KR"/>
              <a:pPr/>
              <a:t>29</a:t>
            </a:fld>
            <a:endParaRPr lang="en-US" altLang="ko-KR"/>
          </a:p>
        </p:txBody>
      </p:sp>
      <p:sp>
        <p:nvSpPr>
          <p:cNvPr id="7168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Java source code</a:t>
            </a:r>
            <a:r>
              <a:rPr lang="ko-KR" altLang="en-US"/>
              <a:t>를 </a:t>
            </a:r>
            <a:r>
              <a:rPr lang="en-US" altLang="ko-KR"/>
              <a:t>JavaML</a:t>
            </a:r>
            <a:r>
              <a:rPr lang="ko-KR" altLang="en-US"/>
              <a:t>을 이용하여 나타낸 모습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58838" y="735013"/>
            <a:ext cx="4905375" cy="36798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/>
              <a:t>JavaML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XML notepad(left)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XML Spy</a:t>
            </a:r>
            <a:r>
              <a:rPr lang="ko-KR" altLang="en-US" dirty="0" smtClean="0"/>
              <a:t>를 이용하여 본 모습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809AA9-1399-4377-92B8-5832B366A42E}" type="slidenum">
              <a:rPr lang="en-US" altLang="ko-KR" smtClean="0"/>
              <a:pPr/>
              <a:t>30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8F9D3C-0DBD-4826-A7C3-1B8422577B5E}" type="slidenum">
              <a:rPr lang="en-US" altLang="ko-KR"/>
              <a:pPr/>
              <a:t>32</a:t>
            </a:fld>
            <a:endParaRPr lang="en-US" altLang="ko-KR"/>
          </a:p>
        </p:txBody>
      </p:sp>
      <p:sp>
        <p:nvSpPr>
          <p:cNvPr id="7373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58838" y="735013"/>
            <a:ext cx="4905375" cy="3679825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XML</a:t>
            </a:r>
            <a:r>
              <a:rPr lang="ko-KR" altLang="en-US"/>
              <a:t>은 텍스트 데이터를 위한 일반적 목적의 포맷</a:t>
            </a:r>
          </a:p>
          <a:p>
            <a:r>
              <a:rPr lang="ko-KR" altLang="en-US"/>
              <a:t>이들 중 일부의 사용되는 목적은 </a:t>
            </a:r>
            <a:r>
              <a:rPr lang="en-US" altLang="ko-KR"/>
              <a:t>XML </a:t>
            </a:r>
            <a:r>
              <a:rPr lang="ko-KR" altLang="en-US"/>
              <a:t>자체의 개선을 위해서임</a:t>
            </a:r>
          </a:p>
          <a:p>
            <a:r>
              <a:rPr lang="ko-KR" altLang="en-US"/>
              <a:t>이것은 </a:t>
            </a:r>
            <a:r>
              <a:rPr lang="en-US" altLang="ko-KR"/>
              <a:t>XSL, XLL, DCD</a:t>
            </a:r>
            <a:r>
              <a:rPr lang="ko-KR" altLang="en-US"/>
              <a:t>을 포함한다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857364"/>
            <a:ext cx="7772400" cy="1470025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92939" y="3571876"/>
            <a:ext cx="7758122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714348" y="3428206"/>
            <a:ext cx="7715304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Corbel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orbel" pitchFamily="34" charset="0"/>
              </a:defRPr>
            </a:lvl1pPr>
            <a:lvl2pPr>
              <a:defRPr>
                <a:latin typeface="Corbel" pitchFamily="34" charset="0"/>
              </a:defRPr>
            </a:lvl2pPr>
            <a:lvl3pPr>
              <a:defRPr>
                <a:latin typeface="Corbel" pitchFamily="34" charset="0"/>
              </a:defRPr>
            </a:lvl3pPr>
            <a:lvl4pPr>
              <a:defRPr>
                <a:latin typeface="Corbel" pitchFamily="34" charset="0"/>
              </a:defRPr>
            </a:lvl4pPr>
            <a:lvl5pPr>
              <a:defRPr>
                <a:latin typeface="Corbel" pitchFamily="34" charset="0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196951" y="6572272"/>
            <a:ext cx="750099" cy="21431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Corbel" pitchFamily="34" charset="0"/>
              </a:defRPr>
            </a:lvl1pPr>
          </a:lstStyle>
          <a:p>
            <a:fld id="{6E65F1AC-B254-4275-9F53-B7EE31C25071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8149460" y="6197600"/>
            <a:ext cx="973079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5721C7-7F83-458B-B317-32DD14A1247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1448" y="142860"/>
            <a:ext cx="8801104" cy="785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1448" y="1071546"/>
            <a:ext cx="8801104" cy="5429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250529" y="6572272"/>
            <a:ext cx="642942" cy="214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Corbel" pitchFamily="34" charset="0"/>
              </a:defRPr>
            </a:lvl1pPr>
          </a:lstStyle>
          <a:p>
            <a:fld id="{4BC29599-9E19-47BE-AC09-1DCEC5D9ABC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kern="1200">
          <a:solidFill>
            <a:schemeClr val="tx1"/>
          </a:solidFill>
          <a:latin typeface="Corbe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rgbClr val="C0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Corbel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rgbClr val="C00000"/>
        </a:buClr>
        <a:buFont typeface="Corbel" pitchFamily="34" charset="0"/>
        <a:buChar char="–"/>
        <a:defRPr sz="2000" kern="1200">
          <a:solidFill>
            <a:schemeClr val="tx1"/>
          </a:solidFill>
          <a:latin typeface="Corbel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rgbClr val="C00000"/>
        </a:buClr>
        <a:buFont typeface="Wingdings" pitchFamily="2" charset="2"/>
        <a:buChar char="§"/>
        <a:defRPr sz="1800" kern="1200">
          <a:solidFill>
            <a:schemeClr val="tx1"/>
          </a:solidFill>
          <a:latin typeface="Corbel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rgbClr val="C00000"/>
        </a:buClr>
        <a:buFont typeface="Corbel" pitchFamily="34" charset="0"/>
        <a:buChar char="–"/>
        <a:defRPr sz="1600" kern="1200">
          <a:solidFill>
            <a:schemeClr val="tx1"/>
          </a:solidFill>
          <a:latin typeface="Corbel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rgbClr val="C00000"/>
        </a:buClr>
        <a:buFont typeface="Wingdings" pitchFamily="2" charset="2"/>
        <a:buChar char="§"/>
        <a:defRPr sz="1600" kern="1200">
          <a:solidFill>
            <a:schemeClr val="tx1"/>
          </a:solidFill>
          <a:latin typeface="Corbe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products/java-media/speech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XML Applications</a:t>
            </a: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 algn="r"/>
            <a:r>
              <a:rPr lang="en-US" altLang="ko-KR" dirty="0" smtClean="0">
                <a:solidFill>
                  <a:prstClr val="white"/>
                </a:solidFill>
              </a:rPr>
              <a:t>SNU IDB Lab.</a:t>
            </a:r>
            <a:endParaRPr lang="ko-KR" altLang="en-US" dirty="0" smtClean="0">
              <a:solidFill>
                <a:prstClr val="white"/>
              </a:solidFill>
            </a:endParaRPr>
          </a:p>
          <a:p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  <a:endParaRPr lang="en-US" altLang="ko-KR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u="sng" dirty="0" smtClean="0"/>
              <a:t>Meta-mark-up</a:t>
            </a:r>
            <a:r>
              <a:rPr lang="ko-KR" altLang="en-US" u="sng" dirty="0" smtClean="0"/>
              <a:t>언어로서의 </a:t>
            </a:r>
            <a:r>
              <a:rPr lang="en-US" altLang="ko-KR" u="sng" dirty="0" smtClean="0"/>
              <a:t>application</a:t>
            </a:r>
          </a:p>
          <a:p>
            <a:r>
              <a:rPr lang="en-US" altLang="ko-KR" dirty="0" smtClean="0"/>
              <a:t>XML for XML : XML</a:t>
            </a:r>
            <a:r>
              <a:rPr lang="ko-KR" altLang="en-US" dirty="0" smtClean="0"/>
              <a:t>을 위한 </a:t>
            </a:r>
            <a:r>
              <a:rPr lang="en-US" altLang="ko-KR" dirty="0" smtClean="0"/>
              <a:t>XML application</a:t>
            </a:r>
          </a:p>
          <a:p>
            <a:r>
              <a:rPr lang="en-US" altLang="ko-KR" dirty="0" smtClean="0"/>
              <a:t>Data exchange applications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0819A-8DEC-4A97-B83F-C649E261B022}" type="slidenum">
              <a:rPr lang="en-US" altLang="ko-KR" smtClean="0"/>
              <a:pPr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Xml application</a:t>
            </a:r>
            <a:br>
              <a:rPr lang="en-US" altLang="ko-KR" sz="2200" dirty="0" smtClean="0"/>
            </a:br>
            <a:r>
              <a:rPr lang="en-US" altLang="ko-KR" dirty="0" smtClean="0"/>
              <a:t>application as </a:t>
            </a:r>
            <a:r>
              <a:rPr lang="en-US" altLang="ko-KR" dirty="0" err="1" smtClean="0"/>
              <a:t>meta_mark_up</a:t>
            </a:r>
            <a:r>
              <a:rPr lang="en-US" altLang="ko-KR" dirty="0" smtClean="0"/>
              <a:t> language</a:t>
            </a:r>
            <a:endParaRPr lang="en-US" altLang="ko-KR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특정 각 분야를 위한 </a:t>
            </a:r>
            <a:r>
              <a:rPr lang="en-US" altLang="ko-KR" dirty="0" smtClean="0"/>
              <a:t>mark up  </a:t>
            </a:r>
            <a:r>
              <a:rPr lang="ko-KR" altLang="en-US" dirty="0" smtClean="0"/>
              <a:t>설계</a:t>
            </a:r>
          </a:p>
          <a:p>
            <a:r>
              <a:rPr lang="ko-KR" altLang="en-US" dirty="0" smtClean="0"/>
              <a:t>분야별 </a:t>
            </a:r>
            <a:r>
              <a:rPr lang="en-US" altLang="ko-KR" dirty="0" smtClean="0"/>
              <a:t>DTD design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34C9-9CE9-4A67-812D-E975D077C419}" type="slidenum">
              <a:rPr lang="en-US" altLang="ko-KR" smtClean="0"/>
              <a:pPr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smtClean="0"/>
              <a:t>Xml application</a:t>
            </a:r>
            <a:br>
              <a:rPr lang="en-US" altLang="ko-KR" sz="2200" smtClean="0"/>
            </a:br>
            <a:r>
              <a:rPr lang="en-US" altLang="ko-KR" smtClean="0"/>
              <a:t>application as meta_mark_up language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MathML</a:t>
            </a:r>
          </a:p>
          <a:p>
            <a:r>
              <a:rPr lang="en-US" altLang="ko-KR" smtClean="0"/>
              <a:t>MusicML</a:t>
            </a:r>
          </a:p>
          <a:p>
            <a:r>
              <a:rPr lang="en-US" altLang="ko-KR" smtClean="0"/>
              <a:t>NewsML</a:t>
            </a:r>
          </a:p>
          <a:p>
            <a:r>
              <a:rPr lang="en-US" altLang="ko-KR" smtClean="0"/>
              <a:t>PML</a:t>
            </a:r>
          </a:p>
          <a:p>
            <a:r>
              <a:rPr lang="en-US" altLang="ko-KR" smtClean="0"/>
              <a:t>SpeechML</a:t>
            </a:r>
          </a:p>
          <a:p>
            <a:r>
              <a:rPr lang="en-US" altLang="ko-KR" smtClean="0"/>
              <a:t>UIML</a:t>
            </a:r>
          </a:p>
          <a:p>
            <a:r>
              <a:rPr lang="en-US" altLang="ko-KR" smtClean="0"/>
              <a:t>Xforms</a:t>
            </a:r>
          </a:p>
          <a:p>
            <a:r>
              <a:rPr lang="en-US" altLang="ko-KR" smtClean="0"/>
              <a:t>WebML</a:t>
            </a:r>
          </a:p>
          <a:p>
            <a:r>
              <a:rPr lang="en-US" altLang="ko-KR" smtClean="0"/>
              <a:t>SMIL</a:t>
            </a:r>
          </a:p>
          <a:p>
            <a:r>
              <a:rPr lang="en-US" altLang="ko-KR" smtClean="0"/>
              <a:t>MPEG-7</a:t>
            </a:r>
          </a:p>
          <a:p>
            <a:r>
              <a:rPr lang="en-US" altLang="ko-KR" smtClean="0"/>
              <a:t>XSA</a:t>
            </a:r>
          </a:p>
          <a:p>
            <a:r>
              <a:rPr lang="en-US" altLang="ko-KR" smtClean="0"/>
              <a:t>JavaML</a:t>
            </a:r>
          </a:p>
          <a:p>
            <a:pPr>
              <a:buNone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8F41A-BFDC-4832-9456-CA1A877BF051}" type="slidenum">
              <a:rPr lang="en-US" altLang="ko-KR" smtClean="0"/>
              <a:pPr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MathML </a:t>
            </a:r>
            <a:endParaRPr lang="en-US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x2 + 4x+ 4 = 0</a:t>
            </a:r>
            <a:endParaRPr lang="en-US" altLang="ko-KR"/>
          </a:p>
        </p:txBody>
      </p:sp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09BB-FB98-4BC8-B6F8-84F5EA86169A}" type="slidenum">
              <a:rPr lang="en-US" altLang="ko-KR" smtClean="0"/>
              <a:pPr/>
              <a:t>5</a:t>
            </a:fld>
            <a:endParaRPr lang="en-US" altLang="ko-KR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720725" y="2509490"/>
            <a:ext cx="5610225" cy="307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&lt;mrow&gt;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&lt;mrow&gt;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&lt;msup&gt; &lt;mi&gt;x&lt;/mi&gt; &lt;mn&gt;2&lt;/mn&gt; &lt;/msup&gt; &lt;mo&gt;+&lt;/mo&gt;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&lt;mrow&gt;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  &lt;mn&gt;4&lt;/mn&gt;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  &lt;mo&gt;&amp;invisibletimes;&lt;/mo&gt;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  &lt;mi&gt;x&lt;/mi&gt;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&lt;/mrow&gt;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&lt;mo&gt;+&lt;/mo&gt;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&lt;mn&gt;4&lt;/mn&gt;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&lt;/mrow&gt;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&lt;mo&gt;=&lt;/mo&gt;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&lt;mn&gt;0&lt;/mn&gt;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&lt;/mrow&gt;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6400800" y="2498377"/>
            <a:ext cx="1601788" cy="307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&lt;apply&gt; 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&lt;plus/&gt;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&lt;apply&gt;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&lt;power/&gt;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&lt;ci&gt;x&lt;/ci&gt;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&lt;cn&gt;2&lt;/cn&gt;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&lt;/apply&gt;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&lt;apply&gt;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&lt;times/&gt;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&lt;cn&gt;4&lt;/cn&gt;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    &lt;ci&gt;x&lt;/ci&gt;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 &lt;/apply&gt;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   &lt;cn&gt;4&lt;/cn&gt;</a:t>
            </a:r>
          </a:p>
          <a:p>
            <a:pPr eaLnBrk="1" latinLnBrk="1" hangingPunct="1"/>
            <a:r>
              <a:rPr kumimoji="1" lang="en-US" altLang="ko-KR" sz="1400">
                <a:latin typeface="Times New Roman" pitchFamily="18" charset="0"/>
              </a:rPr>
              <a:t>    &lt;/apply&gt;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660400" y="2080865"/>
            <a:ext cx="1314450" cy="366712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 eaLnBrk="1" latinLnBrk="1" hangingPunct="1">
              <a:spcBef>
                <a:spcPct val="50000"/>
              </a:spcBef>
            </a:pPr>
            <a:r>
              <a:rPr kumimoji="1" lang="en-US" altLang="ko-KR" sz="1800" dirty="0">
                <a:latin typeface="Times New Roman" pitchFamily="18" charset="0"/>
              </a:rPr>
              <a:t>Presentation</a:t>
            </a:r>
            <a:endParaRPr kumimoji="1" lang="en-US" altLang="ko-KR" dirty="0">
              <a:latin typeface="Times New Roman" pitchFamily="18" charset="0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6324600" y="2041177"/>
            <a:ext cx="1035050" cy="366713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 eaLnBrk="1" latinLnBrk="1" hangingPunct="1">
              <a:spcBef>
                <a:spcPct val="50000"/>
              </a:spcBef>
            </a:pPr>
            <a:r>
              <a:rPr kumimoji="1" lang="en-US" altLang="ko-KR" sz="1800">
                <a:latin typeface="Times New Roman" pitchFamily="18" charset="0"/>
              </a:rPr>
              <a:t>Semantic</a:t>
            </a:r>
            <a:endParaRPr kumimoji="1" lang="en-US" altLang="ko-KR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Amaya - MathML Editor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5075-BFD1-4C73-A1EF-E6501A31CDB3}" type="slidenum">
              <a:rPr lang="en-US" altLang="ko-KR" smtClean="0"/>
              <a:pPr/>
              <a:t>6</a:t>
            </a:fld>
            <a:endParaRPr lang="en-US" altLang="ko-KR"/>
          </a:p>
        </p:txBody>
      </p:sp>
      <p:pic>
        <p:nvPicPr>
          <p:cNvPr id="9219" name="Picture 3" descr="D:\XML\Bible\02 XML Applications\3236-7 fg0202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9763" y="2103438"/>
            <a:ext cx="7680325" cy="36401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MusicML : example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894F3-EFC1-4E7B-961E-DF6D7DECD4EB}" type="slidenum">
              <a:rPr lang="en-US" altLang="ko-KR" smtClean="0"/>
              <a:pPr/>
              <a:t>7</a:t>
            </a:fld>
            <a:endParaRPr lang="en-US" altLang="ko-KR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82750" y="1981200"/>
            <a:ext cx="5784850" cy="4454525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NewsML</a:t>
            </a:r>
            <a:endParaRPr lang="en-US" altLang="ko-KR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[November 15, 1999] International Press Telecommunications Council </a:t>
            </a:r>
          </a:p>
          <a:p>
            <a:r>
              <a:rPr lang="en-US" altLang="ko-KR" smtClean="0"/>
              <a:t>XML-based standard for all aspects of news creation, storage and delivery</a:t>
            </a:r>
          </a:p>
          <a:p>
            <a:r>
              <a:rPr lang="en-US" altLang="ko-KR" smtClean="0"/>
              <a:t>[October 11, 2000] NewsML Version 1.0 DTD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DC5BB-7D06-493F-8514-2A034201023B}" type="slidenum">
              <a:rPr lang="en-US" altLang="ko-KR" smtClean="0"/>
              <a:pPr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NewsML</a:t>
            </a:r>
            <a:endParaRPr lang="en-US" altLang="ko-K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Features</a:t>
            </a:r>
          </a:p>
          <a:p>
            <a:pPr lvl="1"/>
            <a:r>
              <a:rPr lang="en-US" altLang="ko-KR" smtClean="0"/>
              <a:t>All formats and media types recognized equally</a:t>
            </a:r>
          </a:p>
          <a:p>
            <a:pPr lvl="1"/>
            <a:r>
              <a:rPr lang="en-US" altLang="ko-KR" smtClean="0"/>
              <a:t>Facilitates the development of news items</a:t>
            </a:r>
          </a:p>
          <a:p>
            <a:pPr lvl="1"/>
            <a:r>
              <a:rPr lang="en-US" altLang="ko-KR" smtClean="0"/>
              <a:t>Collections of news items</a:t>
            </a:r>
          </a:p>
          <a:p>
            <a:pPr lvl="1"/>
            <a:r>
              <a:rPr lang="en-US" altLang="ko-KR" smtClean="0"/>
              <a:t>Named relationships between news items</a:t>
            </a:r>
          </a:p>
          <a:p>
            <a:pPr lvl="1"/>
            <a:r>
              <a:rPr lang="en-US" altLang="ko-KR" smtClean="0"/>
              <a:t>Structure consisting of parts and named relationships between parts</a:t>
            </a:r>
          </a:p>
          <a:p>
            <a:pPr lvl="1"/>
            <a:r>
              <a:rPr lang="en-US" altLang="ko-KR" smtClean="0"/>
              <a:t>Alternative representations of the same part</a:t>
            </a:r>
          </a:p>
          <a:p>
            <a:pPr lvl="1"/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3016-9418-45FB-9941-4398E9CFEFD8}" type="slidenum">
              <a:rPr lang="en-US" altLang="ko-KR" smtClean="0"/>
              <a:pPr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NewsML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F1AC-B254-4275-9F53-B7EE31C25071}" type="slidenum">
              <a:rPr lang="en-US" altLang="ko-KR" smtClean="0"/>
              <a:pPr/>
              <a:t>10</a:t>
            </a:fld>
            <a:endParaRPr lang="en-US" altLang="ko-KR"/>
          </a:p>
        </p:txBody>
      </p:sp>
      <p:pic>
        <p:nvPicPr>
          <p:cNvPr id="5" name="Picture 2" descr="http://www.xmlnews.org/NewsML/toolkit/whitepaper/library-structur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6498" y="1124744"/>
            <a:ext cx="5196878" cy="486796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15616" y="6006838"/>
            <a:ext cx="723616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pPr algn="ctr" eaLnBrk="1" latinLnBrk="1" hangingPunct="1"/>
            <a:r>
              <a:rPr kumimoji="1" lang="en-US" altLang="ko-KR" sz="2800" dirty="0">
                <a:latin typeface="Corbel" pitchFamily="34" charset="0"/>
              </a:rPr>
              <a:t>structure of a typical object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NewsML</a:t>
            </a:r>
            <a:r>
              <a:rPr lang="en-US" altLang="ko-KR" dirty="0" smtClean="0"/>
              <a:t> </a:t>
            </a:r>
            <a:r>
              <a:rPr lang="en-US" altLang="ko-KR" dirty="0" smtClean="0"/>
              <a:t>Explorer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F1AC-B254-4275-9F53-B7EE31C25071}" type="slidenum">
              <a:rPr lang="en-US" altLang="ko-KR" smtClean="0"/>
              <a:pPr/>
              <a:t>11</a:t>
            </a:fld>
            <a:endParaRPr lang="en-US" altLang="ko-KR"/>
          </a:p>
        </p:txBody>
      </p:sp>
      <p:pic>
        <p:nvPicPr>
          <p:cNvPr id="5" name="Picture 2" descr="http://www.xmlnews.org/NewsML/toolkit/whitepaper/screen-shot-20001129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124744"/>
            <a:ext cx="7889627" cy="49125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Portal Markup Language (PML)</a:t>
            </a:r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DataChannel's submission to XML.org</a:t>
            </a:r>
          </a:p>
          <a:p>
            <a:r>
              <a:rPr lang="en-US" altLang="ko-KR" smtClean="0"/>
              <a:t>Inter-portal communication by providing an XML-based description of portal-related data and metadata</a:t>
            </a:r>
          </a:p>
          <a:p>
            <a:r>
              <a:rPr lang="en-US" altLang="ko-KR" smtClean="0"/>
              <a:t>Allow portals of the same or of different manufacturers to exchange information about the information objects, users, groups, access controls subscriptions and notifications</a:t>
            </a:r>
          </a:p>
          <a:p>
            <a:r>
              <a:rPr lang="en-US" altLang="ko-KR" smtClean="0"/>
              <a:t>http://www.datachannel.com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1917-1B4A-47C8-ABCD-B7B3C7F146DA}" type="slidenum">
              <a:rPr lang="en-US" altLang="ko-KR" smtClean="0"/>
              <a:pPr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SpeechML</a:t>
            </a:r>
            <a:endParaRPr lang="en-US" altLang="ko-KR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Builds distributed network-based conversational applications</a:t>
            </a:r>
          </a:p>
          <a:p>
            <a:r>
              <a:rPr lang="en-US" altLang="ko-KR" smtClean="0"/>
              <a:t>The text-to-speech synthesis using the </a:t>
            </a:r>
            <a:r>
              <a:rPr lang="en-US" altLang="ko-KR" smtClean="0">
                <a:hlinkClick r:id="rId3"/>
              </a:rPr>
              <a:t>Java Speech Markup Language (JSML)</a:t>
            </a:r>
            <a:endParaRPr lang="en-US" altLang="ko-KR" smtClean="0"/>
          </a:p>
          <a:p>
            <a:r>
              <a:rPr lang="en-US" altLang="ko-KR" smtClean="0"/>
              <a:t>http://www.alphawoks.ibm.com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7AB70-C6AC-4FBA-8456-4D6D02F1FA0D}" type="slidenum">
              <a:rPr lang="en-US" altLang="ko-KR" smtClean="0"/>
              <a:pPr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User Interface Markup Language (UIML)</a:t>
            </a:r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XML language for defining user interfaces </a:t>
            </a:r>
          </a:p>
          <a:p>
            <a:pPr lvl="1"/>
            <a:r>
              <a:rPr lang="en-US" altLang="ko-KR" smtClean="0"/>
              <a:t>Defines the actual interface elements</a:t>
            </a:r>
          </a:p>
          <a:p>
            <a:pPr lvl="1"/>
            <a:r>
              <a:rPr lang="en-US" altLang="ko-KR" smtClean="0"/>
              <a:t>Defines the location, and design of controls</a:t>
            </a:r>
          </a:p>
          <a:p>
            <a:pPr lvl="1"/>
            <a:r>
              <a:rPr lang="en-US" altLang="ko-KR" smtClean="0"/>
              <a:t>Defines actions to take when certain events take place</a:t>
            </a:r>
          </a:p>
          <a:p>
            <a:r>
              <a:rPr lang="en-US" altLang="ko-KR" smtClean="0"/>
              <a:t>Advantage</a:t>
            </a:r>
          </a:p>
          <a:p>
            <a:pPr lvl="1"/>
            <a:r>
              <a:rPr lang="en-US" altLang="ko-KR" smtClean="0"/>
              <a:t>Describe a rich set of interfaces and reduces the work in porting the user interface to another platform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BEB4E-07FB-4310-97F3-093367CC60CB}" type="slidenum">
              <a:rPr lang="en-US" altLang="ko-KR" smtClean="0"/>
              <a:pPr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Xforms</a:t>
            </a:r>
            <a:endParaRPr lang="en-US" altLang="ko-KR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Xforms</a:t>
            </a:r>
          </a:p>
          <a:p>
            <a:pPr lvl="1"/>
            <a:r>
              <a:rPr lang="en-US" altLang="ko-KR" smtClean="0"/>
              <a:t>specification of Web forms that can be used with a wide variety of platforms including desktop computers, hand helds, information appliances, and even paper</a:t>
            </a:r>
          </a:p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AC00-69E4-40F3-A18F-EF566E2F0804}" type="slidenum">
              <a:rPr lang="en-US" altLang="ko-KR" smtClean="0"/>
              <a:pPr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Xforms</a:t>
            </a:r>
            <a:endParaRPr lang="en-US" altLang="ko-KR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Goals</a:t>
            </a:r>
          </a:p>
          <a:p>
            <a:pPr lvl="1"/>
            <a:r>
              <a:rPr lang="en-US" altLang="ko-KR" smtClean="0"/>
              <a:t>Support for handheld, television, and desktop browsers, plus printers and scanners </a:t>
            </a:r>
          </a:p>
          <a:p>
            <a:pPr lvl="1"/>
            <a:r>
              <a:rPr lang="en-US" altLang="ko-KR" smtClean="0"/>
              <a:t>Richer user interface to meet the needs of business, consumer and device control applications </a:t>
            </a:r>
          </a:p>
          <a:p>
            <a:pPr lvl="1"/>
            <a:r>
              <a:rPr lang="en-US" altLang="ko-KR" smtClean="0"/>
              <a:t>Decoupled data, logic and presentation </a:t>
            </a:r>
          </a:p>
          <a:p>
            <a:pPr lvl="1"/>
            <a:r>
              <a:rPr lang="en-US" altLang="ko-KR" smtClean="0"/>
              <a:t>Improved internationalization </a:t>
            </a:r>
          </a:p>
          <a:p>
            <a:pPr lvl="1"/>
            <a:r>
              <a:rPr lang="en-US" altLang="ko-KR" smtClean="0"/>
              <a:t>Support for structured form data </a:t>
            </a:r>
          </a:p>
          <a:p>
            <a:pPr lvl="1"/>
            <a:r>
              <a:rPr lang="en-US" altLang="ko-KR" smtClean="0"/>
              <a:t>Advanced forms logic </a:t>
            </a:r>
          </a:p>
          <a:p>
            <a:pPr lvl="1"/>
            <a:r>
              <a:rPr lang="en-US" altLang="ko-KR" smtClean="0"/>
              <a:t>Multiple forms per page, and pages per form </a:t>
            </a:r>
          </a:p>
          <a:p>
            <a:pPr lvl="1"/>
            <a:r>
              <a:rPr lang="en-US" altLang="ko-KR" smtClean="0"/>
              <a:t>Suspend and Resume support </a:t>
            </a:r>
          </a:p>
          <a:p>
            <a:pPr lvl="1"/>
            <a:r>
              <a:rPr lang="en-US" altLang="ko-KR" smtClean="0"/>
              <a:t>Seamless integration with other XML tag sets 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A6844-CF0E-428A-A34A-E891B085913D}" type="slidenum">
              <a:rPr lang="en-US" altLang="ko-KR" smtClean="0"/>
              <a:pPr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Xforms</a:t>
            </a:r>
            <a:endParaRPr lang="ko-KR" altLang="en-US" dirty="0"/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617DA-7FA5-41B5-9203-08B592BB6F76}" type="slidenum">
              <a:rPr lang="en-US" altLang="ko-KR" smtClean="0"/>
              <a:pPr/>
              <a:t>17</a:t>
            </a:fld>
            <a:endParaRPr lang="en-US" altLang="ko-KR"/>
          </a:p>
        </p:txBody>
      </p:sp>
      <p:pic>
        <p:nvPicPr>
          <p:cNvPr id="20482" name="Picture 2" descr="diagram showing an XForms Model puzzle piece potentailly connecting to many&#10;possible user interface puzzle pieces: XForms, XHTML, WML, and proprieta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84784"/>
            <a:ext cx="2925763" cy="4457700"/>
          </a:xfrm>
          <a:prstGeom prst="rect">
            <a:avLst/>
          </a:prstGeom>
          <a:noFill/>
        </p:spPr>
      </p:pic>
      <p:pic>
        <p:nvPicPr>
          <p:cNvPr id="20483" name="Picture 3" descr="Diagram of the connected XForms Model and XForms User Interface puzzle pieces.&#10;Below that, a double-headed arrow labeled XForms Submit Protocol. Below that, a&#10;document icon labeled XML Instance Dat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6784" y="1637184"/>
            <a:ext cx="2308225" cy="3578225"/>
          </a:xfrm>
          <a:prstGeom prst="rect">
            <a:avLst/>
          </a:prstGeom>
          <a:noFill/>
        </p:spPr>
      </p:pic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927972" y="5523384"/>
            <a:ext cx="2233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b="1"/>
              <a:t>XForms Model</a:t>
            </a:r>
            <a:endParaRPr kumimoji="1" lang="en-US" altLang="ko-KR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350963" y="609600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eaLnBrk="1" latinLnBrk="1" hangingPunct="1"/>
            <a:endParaRPr kumimoji="1" lang="ko-KR" altLang="ko-KR" sz="4400">
              <a:solidFill>
                <a:schemeClr val="tx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Web Modeling Language (</a:t>
            </a:r>
            <a:r>
              <a:rPr lang="en-US" altLang="ko-KR" dirty="0" err="1" smtClean="0"/>
              <a:t>WebML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Notation for specifying complex Web sites at the conceptual level</a:t>
            </a:r>
          </a:p>
          <a:p>
            <a:r>
              <a:rPr lang="en-US" altLang="ko-KR" smtClean="0"/>
              <a:t>Model-driven approach to Web site development</a:t>
            </a:r>
          </a:p>
          <a:p>
            <a:pPr lvl="1"/>
            <a:r>
              <a:rPr lang="en-US" altLang="ko-KR" smtClean="0"/>
              <a:t>Data content [structural model]</a:t>
            </a:r>
          </a:p>
          <a:p>
            <a:pPr lvl="1"/>
            <a:r>
              <a:rPr lang="en-US" altLang="ko-KR" smtClean="0"/>
              <a:t>Pages that compose it [composition model]</a:t>
            </a:r>
          </a:p>
          <a:p>
            <a:pPr lvl="1"/>
            <a:r>
              <a:rPr lang="en-US" altLang="ko-KR" smtClean="0"/>
              <a:t>Topology of links between pages [navigation model]</a:t>
            </a:r>
          </a:p>
          <a:p>
            <a:pPr lvl="1"/>
            <a:r>
              <a:rPr lang="en-US" altLang="ko-KR" smtClean="0"/>
              <a:t>Layout and graphic requirements for page rendering [presentation model], </a:t>
            </a:r>
          </a:p>
          <a:p>
            <a:pPr lvl="1"/>
            <a:r>
              <a:rPr lang="en-US" altLang="ko-KR" smtClean="0"/>
              <a:t>Customization features for one-to-one content delivery [personalization model]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CC50-D137-4063-A334-99018DD7153A}" type="slidenum">
              <a:rPr lang="en-US" altLang="ko-KR" smtClean="0"/>
              <a:pPr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Web Modeling Language (</a:t>
            </a:r>
            <a:r>
              <a:rPr lang="en-US" altLang="ko-KR" dirty="0" err="1" smtClean="0"/>
              <a:t>WebML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F1AC-B254-4275-9F53-B7EE31C25071}" type="slidenum">
              <a:rPr lang="en-US" altLang="ko-KR" smtClean="0"/>
              <a:pPr/>
              <a:t>19</a:t>
            </a:fld>
            <a:endParaRPr lang="en-US" altLang="ko-KR"/>
          </a:p>
        </p:txBody>
      </p:sp>
      <p:pic>
        <p:nvPicPr>
          <p:cNvPr id="9" name="Picture 2" descr="http://www9.org/w9cdrom/177/fig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029965"/>
            <a:ext cx="2857500" cy="2114550"/>
          </a:xfrm>
          <a:prstGeom prst="rect">
            <a:avLst/>
          </a:prstGeom>
          <a:noFill/>
        </p:spPr>
      </p:pic>
      <p:pic>
        <p:nvPicPr>
          <p:cNvPr id="10" name="Picture 3" descr="http://www9.org/w9cdrom/177/fig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70708" y="3140968"/>
            <a:ext cx="5646738" cy="2617788"/>
          </a:xfrm>
          <a:prstGeom prst="rect">
            <a:avLst/>
          </a:prstGeom>
          <a:noFill/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56320" y="3212976"/>
            <a:ext cx="2247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b="1" i="1" dirty="0"/>
              <a:t>structure schema</a:t>
            </a:r>
            <a:endParaRPr kumimoji="1" lang="en-US" altLang="ko-KR" sz="2000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989708" y="5807968"/>
            <a:ext cx="6046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b="1" i="1"/>
              <a:t>WebML composition and navigation specification</a:t>
            </a:r>
            <a:endParaRPr kumimoji="1" lang="en-US" altLang="ko-KR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Web Modeling Language (</a:t>
            </a:r>
            <a:r>
              <a:rPr lang="en-US" altLang="ko-KR" dirty="0" err="1" smtClean="0"/>
              <a:t>WebML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F1AC-B254-4275-9F53-B7EE31C25071}" type="slidenum">
              <a:rPr lang="en-US" altLang="ko-KR" smtClean="0"/>
              <a:pPr/>
              <a:t>20</a:t>
            </a:fld>
            <a:endParaRPr lang="en-US" altLang="ko-KR"/>
          </a:p>
        </p:txBody>
      </p:sp>
      <p:pic>
        <p:nvPicPr>
          <p:cNvPr id="5" name="Picture 2" descr="http://www9.org/w9cdrom/177/fig1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2975" y="1296988"/>
            <a:ext cx="7258050" cy="4264025"/>
          </a:xfrm>
          <a:prstGeom prst="rect">
            <a:avLst/>
          </a:prstGeom>
          <a:noFill/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879725" y="5735638"/>
            <a:ext cx="2797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b="1"/>
              <a:t>A default site 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SMIL</a:t>
            </a:r>
            <a:endParaRPr lang="en-US" altLang="ko-KR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Synchronized Multimedia Integration Language </a:t>
            </a:r>
          </a:p>
          <a:p>
            <a:pPr lvl="1"/>
            <a:r>
              <a:rPr lang="en-US" altLang="ko-KR" smtClean="0"/>
              <a:t>describing interactive synchronized multimedia distributed on the Web</a:t>
            </a:r>
          </a:p>
          <a:p>
            <a:pPr lvl="1"/>
            <a:r>
              <a:rPr lang="en-US" altLang="ko-KR" smtClean="0"/>
              <a:t>SMIL lets Web builders specify such actions as "play audio file A five seconds after video file B starts and then show image file C."</a:t>
            </a:r>
          </a:p>
          <a:p>
            <a:pPr lvl="1"/>
            <a:r>
              <a:rPr lang="en-US" altLang="ko-KR" smtClean="0"/>
              <a:t>Easily-defined basic timing relationships </a:t>
            </a:r>
          </a:p>
          <a:p>
            <a:pPr lvl="1"/>
            <a:r>
              <a:rPr lang="en-US" altLang="ko-KR" smtClean="0"/>
              <a:t>Fine-tuned synchronization </a:t>
            </a:r>
          </a:p>
          <a:p>
            <a:pPr lvl="1"/>
            <a:r>
              <a:rPr lang="en-US" altLang="ko-KR" smtClean="0"/>
              <a:t>Direct inclusion of non-text and non-image media </a:t>
            </a:r>
          </a:p>
          <a:p>
            <a:pPr lvl="1"/>
            <a:r>
              <a:rPr lang="en-US" altLang="ko-KR" smtClean="0"/>
              <a:t>Hyperlink support for time-based media </a:t>
            </a:r>
          </a:p>
          <a:p>
            <a:pPr lvl="1"/>
            <a:r>
              <a:rPr lang="en-US" altLang="ko-KR" smtClean="0"/>
              <a:t>Adaptiveness to varying user and system characteristics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A3A8-D94F-485A-8A80-0F77240630E2}" type="slidenum">
              <a:rPr lang="en-US" altLang="ko-KR" smtClean="0"/>
              <a:pPr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SMIL : Example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55BD1-A360-4823-AD29-B8708D533FC0}" type="slidenum">
              <a:rPr lang="en-US" altLang="ko-KR" smtClean="0"/>
              <a:pPr/>
              <a:t>22</a:t>
            </a:fld>
            <a:endParaRPr lang="en-US" altLang="ko-KR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539552" y="1556792"/>
            <a:ext cx="8088313" cy="44767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&lt;SMIL&gt;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&lt;HEAD&gt;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&lt;META NAME="title" CONTENT="WebReview Demo"/&gt;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&lt;META NAME="author" CONTENT="jrule@ruleweb.com"/&gt;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&lt;META NAME="copyright" CONTENT="</a:t>
            </a:r>
            <a:r>
              <a:rPr kumimoji="1" lang="en-US" altLang="ko-KR" sz="1300">
                <a:solidFill>
                  <a:srgbClr val="660000"/>
                </a:solidFill>
                <a:latin typeface="Times New Roman"/>
              </a:rPr>
              <a:t>©</a:t>
            </a:r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1999"/&gt;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&lt;LAYOUT TYPE="text/smil-basic-layout"&gt;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&lt;REGION ID="PixChannel" TITLE="PixChannel" LEFT="0" TOP="0" HEIGHT="120"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              WIDTH="160" BACKGROUND-COLOR="#888888" FIT="fill"/&gt;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&lt;REGION ID="VideoChannel" TITLE="VideoChannel" LEFT="160" TOP="0" HEIGHT="120"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              WIDTH="160" BACKGROUND-COLOR="#888888" FIT="fill"/&gt;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&lt;REGION ID="TextChannel" TITLE="TextChannel" LEFT="0" TOP="120" HEIGHT="50"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              WIDTH="320" BACKGROUND-COLOR="#888888" FIT="hidden"/&gt;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&lt;/LAYOUT&gt;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&lt;/HEAD&gt;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&lt;BODY&gt;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&lt;PAR TITLE="multiplexor"&gt;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&lt;VIDEO SRC="webreview.rm" ID="Video" REGION="VideoChannel" TITLE="Video"/&gt;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&lt;IMG SRC="webreview.rp" ID="Headline Pix" REGION="PixChannel" TITLE="Headline Pix"/&gt;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    &lt;TEXT SRC="webreview.rt" ID="Ticker" REGION="TextChannel" TITLE="Ticker"/&gt;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&lt;/PAR&gt;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&lt;/BODY&gt; </a:t>
            </a:r>
          </a:p>
          <a:p>
            <a:pPr eaLnBrk="1" latinLnBrk="1" hangingPunct="1"/>
            <a:r>
              <a:rPr kumimoji="1" lang="en-US" altLang="ko-KR" sz="1300">
                <a:solidFill>
                  <a:srgbClr val="660000"/>
                </a:solidFill>
                <a:latin typeface="Arial Unicode MS" pitchFamily="50" charset="-127"/>
              </a:rPr>
              <a:t>&lt;/SMIL&gt;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MPEG-7 Standard</a:t>
            </a: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MPEC : Moving Picture Experts Group</a:t>
            </a:r>
          </a:p>
          <a:p>
            <a:r>
              <a:rPr lang="en-US" altLang="ko-KR" smtClean="0"/>
              <a:t>'Multimedia Content Description Interface' standard</a:t>
            </a:r>
          </a:p>
          <a:p>
            <a:r>
              <a:rPr lang="en-US" altLang="ko-KR" smtClean="0"/>
              <a:t>Focuses on representing information about the content, not the content itself</a:t>
            </a:r>
          </a:p>
          <a:p>
            <a:r>
              <a:rPr lang="en-US" altLang="ko-KR" smtClean="0"/>
              <a:t>Provide a simple, flexible, interoperable solution to the problems of indexing, searching and retrieving multimedia resources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0E-1939-49EE-9E34-CC6969D012DE}" type="slidenum">
              <a:rPr lang="en-US" altLang="ko-KR" smtClean="0"/>
              <a:pPr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MPEG-7 Standard</a:t>
            </a:r>
            <a:endParaRPr lang="en-US" altLang="ko-KR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The Description Definition Language (DDL)</a:t>
            </a:r>
          </a:p>
          <a:p>
            <a:pPr lvl="1"/>
            <a:r>
              <a:rPr lang="en-US" altLang="ko-KR" smtClean="0"/>
              <a:t>Creates MPEG-7 Description Schemes and Descriptors</a:t>
            </a:r>
          </a:p>
          <a:p>
            <a:pPr lvl="1"/>
            <a:r>
              <a:rPr lang="en-US" altLang="ko-KR" smtClean="0"/>
              <a:t>Expresses spatial, temporal, structural, and conceptual relationships between the elements of a DS, and between DSs</a:t>
            </a:r>
          </a:p>
          <a:p>
            <a:r>
              <a:rPr lang="en-US" altLang="ko-KR" smtClean="0"/>
              <a:t>Applications</a:t>
            </a:r>
          </a:p>
          <a:p>
            <a:pPr lvl="1"/>
            <a:r>
              <a:rPr lang="en-US" altLang="ko-KR" smtClean="0"/>
              <a:t>Digital libraries (image catalog, musical dictionary,...) </a:t>
            </a:r>
          </a:p>
          <a:p>
            <a:pPr lvl="1"/>
            <a:r>
              <a:rPr lang="en-US" altLang="ko-KR" smtClean="0"/>
              <a:t>Multimedia directory services (e.g. yellow pages) </a:t>
            </a:r>
          </a:p>
          <a:p>
            <a:pPr lvl="1"/>
            <a:r>
              <a:rPr lang="en-US" altLang="ko-KR" smtClean="0"/>
              <a:t>Broadcast media selection (radio channel, TV channel,...)</a:t>
            </a:r>
          </a:p>
          <a:p>
            <a:pPr lvl="1"/>
            <a:r>
              <a:rPr lang="en-US" altLang="ko-KR" smtClean="0"/>
              <a:t>Multimedia editing (personalized electronic news service, media authoring)</a:t>
            </a:r>
          </a:p>
          <a:p>
            <a:r>
              <a:rPr lang="en-US" altLang="ko-KR" smtClean="0"/>
              <a:t>http://www.darmstadt.gmd.de/mobile/MPEG7/index.html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8E5-6E41-4045-BA88-98B431FF4C17}" type="slidenum">
              <a:rPr lang="en-US" altLang="ko-KR" smtClean="0"/>
              <a:pPr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MPEG-7 Standard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F1AC-B254-4275-9F53-B7EE31C25071}" type="slidenum">
              <a:rPr lang="en-US" altLang="ko-KR" smtClean="0"/>
              <a:pPr/>
              <a:t>25</a:t>
            </a:fld>
            <a:endParaRPr lang="en-US" altLang="ko-KR"/>
          </a:p>
        </p:txBody>
      </p:sp>
      <p:pic>
        <p:nvPicPr>
          <p:cNvPr id="5" name="Picture 2" descr="http://www.darmstadt.gmd.de/mobile/MPEG7/Documents/W2861-Dateien/image006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4168" y="1268760"/>
            <a:ext cx="5827713" cy="4360863"/>
          </a:xfrm>
          <a:prstGeom prst="rect">
            <a:avLst/>
          </a:prstGeom>
          <a:noFill/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83568" y="5764560"/>
            <a:ext cx="7350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abstract representation of possible applications using MPEG-7</a:t>
            </a:r>
            <a:endParaRPr kumimoji="1" lang="en-US" altLang="ko-KR" sz="20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MPEG-7 Standard</a:t>
            </a:r>
            <a:endParaRPr lang="en-US" altLang="ko-KR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Query examples</a:t>
            </a:r>
          </a:p>
          <a:p>
            <a:pPr lvl="1"/>
            <a:r>
              <a:rPr lang="en-US" altLang="ko-KR" smtClean="0"/>
              <a:t> Music</a:t>
            </a:r>
          </a:p>
          <a:p>
            <a:pPr lvl="2"/>
            <a:r>
              <a:rPr lang="en-US" altLang="ko-KR" smtClean="0"/>
              <a:t>Play a few notes on a keyboard and get in return a list of musical pieces containing (or close to) the required tune or images somehow matching the notes, e.g. in terms of emotions.</a:t>
            </a:r>
          </a:p>
          <a:p>
            <a:pPr lvl="1"/>
            <a:r>
              <a:rPr lang="en-US" altLang="ko-KR" smtClean="0"/>
              <a:t>Graphics</a:t>
            </a:r>
          </a:p>
          <a:p>
            <a:pPr lvl="2"/>
            <a:r>
              <a:rPr lang="en-US" altLang="ko-KR" smtClean="0"/>
              <a:t>Draw a few lines on a screen and get in return a set of images containing similar graphics, logos, ideograms,...</a:t>
            </a:r>
          </a:p>
          <a:p>
            <a:pPr lvl="1"/>
            <a:r>
              <a:rPr lang="en-US" altLang="ko-KR" smtClean="0"/>
              <a:t>Image</a:t>
            </a:r>
          </a:p>
          <a:p>
            <a:pPr lvl="2"/>
            <a:r>
              <a:rPr lang="en-US" altLang="ko-KR" smtClean="0"/>
              <a:t>Define objects, including color patches or textures and get in return examples among which you select the interesting objects to compose your image.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8B928-7A87-45C4-8AC1-9D18D558453C}" type="slidenum">
              <a:rPr lang="en-US" altLang="ko-KR" smtClean="0"/>
              <a:pPr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MPEG-7 Standard</a:t>
            </a:r>
            <a:endParaRPr lang="en-US" altLang="ko-KR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smtClean="0"/>
              <a:t>Movement</a:t>
            </a:r>
          </a:p>
          <a:p>
            <a:pPr lvl="2"/>
            <a:r>
              <a:rPr lang="en-US" altLang="ko-KR" smtClean="0"/>
              <a:t>On a given set of objects, describe movements and relations between objects and get in return a list of animations fulfilling the described temporal and spatial relations.</a:t>
            </a:r>
          </a:p>
          <a:p>
            <a:pPr lvl="1"/>
            <a:r>
              <a:rPr lang="en-US" altLang="ko-KR" smtClean="0"/>
              <a:t>Scenario</a:t>
            </a:r>
          </a:p>
          <a:p>
            <a:pPr lvl="2"/>
            <a:r>
              <a:rPr lang="en-US" altLang="ko-KR" smtClean="0"/>
              <a:t>On a given content, describe actions and get a list of scenarios where similar actions happen.</a:t>
            </a:r>
          </a:p>
          <a:p>
            <a:pPr lvl="1"/>
            <a:r>
              <a:rPr lang="en-US" altLang="ko-KR" smtClean="0"/>
              <a:t>Voice </a:t>
            </a:r>
          </a:p>
          <a:p>
            <a:pPr lvl="2"/>
            <a:r>
              <a:rPr lang="en-US" altLang="ko-KR" smtClean="0"/>
              <a:t>Using an excerpt of Pavarotti’s voice, and getting a list of Pavarotti’s records, video clips where Pavarotti is singing or video clips where Pavarotti is present.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90A3-1C94-4BF4-BFBD-606D5FA1FF8C}" type="slidenum">
              <a:rPr lang="en-US" altLang="ko-KR" smtClean="0"/>
              <a:pPr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JavaML</a:t>
            </a:r>
            <a:endParaRPr lang="en-US" altLang="ko-KR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Java Markup Language</a:t>
            </a:r>
          </a:p>
          <a:p>
            <a:pPr lvl="1"/>
            <a:r>
              <a:rPr lang="en-US" altLang="ko-KR" smtClean="0"/>
              <a:t>JavaML provides a complete self-describing representation of Java source code</a:t>
            </a:r>
          </a:p>
          <a:p>
            <a:pPr lvl="1"/>
            <a:r>
              <a:rPr lang="en-US" altLang="ko-KR" smtClean="0"/>
              <a:t>JavaML reflects the structure of the software artifact directly in the nesting of elements in the XML-based syntax</a:t>
            </a:r>
          </a:p>
          <a:p>
            <a:pPr lvl="1"/>
            <a:r>
              <a:rPr lang="en-US" altLang="ko-KR" smtClean="0"/>
              <a:t>represents extra edges in the program graph using the id and idref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43E93-FC15-4CB5-9F8E-13CCFBDC8AE2}" type="slidenum">
              <a:rPr lang="en-US" altLang="ko-KR" smtClean="0"/>
              <a:pPr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JavaML</a:t>
            </a:r>
            <a:r>
              <a:rPr lang="en-US" altLang="ko-KR" dirty="0" smtClean="0"/>
              <a:t> : Example</a:t>
            </a:r>
            <a:endParaRPr lang="en-US" altLang="ko-KR" dirty="0"/>
          </a:p>
        </p:txBody>
      </p:sp>
      <p:sp>
        <p:nvSpPr>
          <p:cNvPr id="8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0EBC3-979C-4B1D-BB77-072206724E34}" type="slidenum">
              <a:rPr lang="en-US" altLang="ko-KR" smtClean="0"/>
              <a:pPr/>
              <a:t>29</a:t>
            </a:fld>
            <a:endParaRPr lang="en-US" altLang="ko-KR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07504" y="1538064"/>
            <a:ext cx="8153400" cy="4267200"/>
          </a:xfrm>
          <a:prstGeom prst="rect">
            <a:avLst/>
          </a:prstGeom>
          <a:noFill/>
          <a:ln w="1905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&lt;java-source-program&gt;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&lt;import-declaration&gt;import java.applet.*; &lt;/import-declaration&gt;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&lt;import-declaration&gt;import java.awt.*; &lt;/import-declaration&gt;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&lt;class-declaration&gt;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&lt;modifiers&gt;public&lt;/modifiers&gt; class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&lt;class-name&gt;FirstApplet&lt;/class-name&gt; extends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&lt;superclass&gt;Applet&lt;/superclass&gt; {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&lt;method-definition&gt;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    &lt;modifiers&gt;public&lt;/modifiers&gt;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    &lt;return-type&gt;void&lt;/return-type&gt;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    &lt;method-name&gt;paint&lt;/method-name&gt;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       (&lt;formal-arguments&gt; &lt;type&gt;Graphics&lt;/type&gt;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                                          &lt;name&gt;g&lt;/name&gt; &lt;/formal-arguments&gt;)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    &lt;statements&gt;{ g.drawString("FirstApplet", 25, 50); } &lt;/statements&gt;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&lt;/method-definition&gt; }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&lt;/class-declaration&gt; </a:t>
            </a:r>
          </a:p>
          <a:p>
            <a:pPr eaLnBrk="1" latinLnBrk="1" hangingPunct="1"/>
            <a:r>
              <a:rPr kumimoji="1" lang="en-US" altLang="ko-KR"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&lt;/java-source-program&gt; 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5435154" y="2642964"/>
            <a:ext cx="3613150" cy="1600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4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import java.applet.*; </a:t>
            </a:r>
          </a:p>
          <a:p>
            <a:pPr eaLnBrk="1" latinLnBrk="1" hangingPunct="1"/>
            <a:r>
              <a:rPr kumimoji="1" lang="en-US" altLang="ko-KR" sz="14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import java.awt.*; </a:t>
            </a:r>
          </a:p>
          <a:p>
            <a:pPr eaLnBrk="1" latinLnBrk="1" hangingPunct="1"/>
            <a:r>
              <a:rPr kumimoji="1" lang="en-US" altLang="ko-KR" sz="14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public class FirstApplet extends Applet { </a:t>
            </a:r>
          </a:p>
          <a:p>
            <a:pPr eaLnBrk="1" latinLnBrk="1" hangingPunct="1"/>
            <a:r>
              <a:rPr kumimoji="1" lang="en-US" altLang="ko-KR" sz="14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public void paint(Graphics g) { </a:t>
            </a:r>
          </a:p>
          <a:p>
            <a:pPr eaLnBrk="1" latinLnBrk="1" hangingPunct="1"/>
            <a:r>
              <a:rPr kumimoji="1" lang="en-US" altLang="ko-KR" sz="14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        g.drawString("FirstApplet", 25, 50); }</a:t>
            </a:r>
          </a:p>
          <a:p>
            <a:pPr eaLnBrk="1" latinLnBrk="1" hangingPunct="1"/>
            <a:r>
              <a:rPr kumimoji="1" lang="en-US" altLang="ko-KR" sz="14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} 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914704" y="2338164"/>
            <a:ext cx="12557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600">
                <a:latin typeface="Tahoma" pitchFamily="34" charset="0"/>
              </a:rPr>
              <a:t>Java Source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7051229" y="5213127"/>
            <a:ext cx="8413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600">
                <a:latin typeface="Tahoma" pitchFamily="34" charset="0"/>
              </a:rPr>
              <a:t>JavaML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JavaML</a:t>
            </a:r>
            <a:r>
              <a:rPr lang="en-US" altLang="ko-KR" dirty="0" smtClean="0"/>
              <a:t> : </a:t>
            </a:r>
            <a:r>
              <a:rPr lang="en-US" altLang="ko-KR" dirty="0" smtClean="0"/>
              <a:t>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F1AC-B254-4275-9F53-B7EE31C25071}" type="slidenum">
              <a:rPr lang="en-US" altLang="ko-KR" smtClean="0"/>
              <a:pPr/>
              <a:t>30</a:t>
            </a:fld>
            <a:endParaRPr lang="en-US" altLang="ko-KR"/>
          </a:p>
        </p:txBody>
      </p:sp>
      <p:pic>
        <p:nvPicPr>
          <p:cNvPr id="5" name="Picture 3" descr="C:\jerryman\treevw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5759" y="1124744"/>
            <a:ext cx="3962400" cy="5072063"/>
          </a:xfrm>
          <a:prstGeom prst="rect">
            <a:avLst/>
          </a:prstGeom>
          <a:noFill/>
        </p:spPr>
      </p:pic>
      <p:pic>
        <p:nvPicPr>
          <p:cNvPr id="6" name="Picture 4" descr="C:\jerryman\treevw2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69159" y="1124744"/>
            <a:ext cx="4151313" cy="510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  <a:endParaRPr lang="en-US" altLang="ko-KR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Meta-mark-up</a:t>
            </a:r>
            <a:r>
              <a:rPr lang="ko-KR" altLang="en-US" dirty="0" smtClean="0"/>
              <a:t>언어로서의 </a:t>
            </a:r>
            <a:r>
              <a:rPr lang="en-US" altLang="ko-KR" dirty="0" smtClean="0"/>
              <a:t>application</a:t>
            </a:r>
          </a:p>
          <a:p>
            <a:r>
              <a:rPr lang="en-US" altLang="ko-KR" u="sng" dirty="0" smtClean="0"/>
              <a:t>XML for XML : XML</a:t>
            </a:r>
            <a:r>
              <a:rPr lang="ko-KR" altLang="en-US" u="sng" dirty="0" smtClean="0"/>
              <a:t>을 위한 </a:t>
            </a:r>
            <a:r>
              <a:rPr lang="en-US" altLang="ko-KR" u="sng" dirty="0" smtClean="0"/>
              <a:t>XML application</a:t>
            </a:r>
          </a:p>
          <a:p>
            <a:r>
              <a:rPr lang="en-US" altLang="ko-KR" dirty="0" smtClean="0"/>
              <a:t>Data exchange applications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27F-C53B-4387-9951-2D2F466963E8}" type="slidenum">
              <a:rPr lang="en-US" altLang="ko-KR" smtClean="0"/>
              <a:pPr/>
              <a:t>31</a:t>
            </a:fld>
            <a:endParaRPr lang="en-US" altLang="ko-KR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7689850" y="0"/>
            <a:ext cx="145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800">
                <a:solidFill>
                  <a:schemeClr val="tx2"/>
                </a:solidFill>
                <a:latin typeface="Tahoma" pitchFamily="34" charset="0"/>
              </a:rPr>
              <a:t>XML for XML</a:t>
            </a:r>
            <a:endParaRPr lang="en-US" altLang="ko-KR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Xml </a:t>
            </a:r>
            <a:r>
              <a:rPr lang="en-US" altLang="ko-KR" sz="2200" dirty="0" smtClean="0"/>
              <a:t>application</a:t>
            </a:r>
            <a:br>
              <a:rPr lang="en-US" altLang="ko-KR" sz="2200" dirty="0" smtClean="0"/>
            </a:br>
            <a:r>
              <a:rPr lang="en-US" altLang="ko-KR" dirty="0" smtClean="0"/>
              <a:t> </a:t>
            </a:r>
            <a:r>
              <a:rPr lang="en-US" altLang="ko-KR" dirty="0" smtClean="0"/>
              <a:t>XML</a:t>
            </a:r>
            <a:r>
              <a:rPr lang="ko-KR" altLang="en-US" dirty="0" smtClean="0"/>
              <a:t>을 위한 </a:t>
            </a:r>
            <a:r>
              <a:rPr lang="en-US" altLang="ko-KR" dirty="0" smtClean="0"/>
              <a:t>XML </a:t>
            </a:r>
            <a:r>
              <a:rPr lang="en-US" altLang="ko-KR" dirty="0" smtClean="0"/>
              <a:t>application</a:t>
            </a:r>
            <a:endParaRPr lang="ko-KR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XML </a:t>
            </a:r>
            <a:r>
              <a:rPr lang="ko-KR" altLang="en-US" dirty="0" smtClean="0"/>
              <a:t>자체의 개선을 위한 </a:t>
            </a:r>
            <a:r>
              <a:rPr lang="en-US" altLang="ko-KR" dirty="0" smtClean="0"/>
              <a:t>application</a:t>
            </a:r>
          </a:p>
          <a:p>
            <a:r>
              <a:rPr lang="en-US" altLang="ko-KR" dirty="0" smtClean="0"/>
              <a:t>Document publishing applications</a:t>
            </a:r>
          </a:p>
          <a:p>
            <a:pPr lvl="1"/>
            <a:r>
              <a:rPr lang="en-US" altLang="ko-KR" dirty="0" smtClean="0"/>
              <a:t>XSL </a:t>
            </a:r>
            <a:r>
              <a:rPr lang="en-US" altLang="ko-KR" dirty="0" err="1" smtClean="0"/>
              <a:t>stylesheet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XLL link-language</a:t>
            </a:r>
          </a:p>
          <a:p>
            <a:pPr lvl="1"/>
            <a:r>
              <a:rPr lang="en-US" altLang="ko-KR" dirty="0" smtClean="0"/>
              <a:t>DCD(Document Content Description)</a:t>
            </a:r>
          </a:p>
          <a:p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C7F4-D38D-4E94-ABBF-4133B9777016}" type="slidenum">
              <a:rPr lang="en-US" altLang="ko-KR" smtClean="0"/>
              <a:pPr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XSL</a:t>
            </a:r>
            <a:endParaRPr lang="en-US" altLang="ko-KR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eXtensible Style Language</a:t>
            </a:r>
          </a:p>
          <a:p>
            <a:pPr lvl="1"/>
            <a:r>
              <a:rPr lang="en-US" altLang="ko-KR" smtClean="0"/>
              <a:t>style-sheet for XML document</a:t>
            </a:r>
          </a:p>
          <a:p>
            <a:pPr lvl="1"/>
            <a:r>
              <a:rPr lang="en-US" altLang="ko-KR" smtClean="0"/>
              <a:t>a kind of XML application</a:t>
            </a:r>
          </a:p>
          <a:p>
            <a:r>
              <a:rPr lang="en-US" altLang="ko-KR" smtClean="0"/>
              <a:t>XSL is composed of</a:t>
            </a:r>
          </a:p>
          <a:p>
            <a:pPr lvl="1"/>
            <a:r>
              <a:rPr lang="en-US" altLang="ko-KR" smtClean="0"/>
              <a:t>transformation language</a:t>
            </a:r>
          </a:p>
          <a:p>
            <a:pPr lvl="1"/>
            <a:r>
              <a:rPr lang="en-US" altLang="ko-KR" smtClean="0"/>
              <a:t>   - XML </a:t>
            </a:r>
            <a:r>
              <a:rPr lang="ko-KR" altLang="en-US" smtClean="0"/>
              <a:t>문서를 </a:t>
            </a:r>
            <a:r>
              <a:rPr lang="en-US" altLang="ko-KR" smtClean="0"/>
              <a:t>another format </a:t>
            </a:r>
            <a:r>
              <a:rPr lang="ko-KR" altLang="en-US" smtClean="0"/>
              <a:t>의 문서로 전환</a:t>
            </a:r>
          </a:p>
          <a:p>
            <a:pPr lvl="1"/>
            <a:r>
              <a:rPr lang="en-US" altLang="ko-KR" smtClean="0"/>
              <a:t>formatting language</a:t>
            </a:r>
          </a:p>
          <a:p>
            <a:pPr lvl="1"/>
            <a:r>
              <a:rPr lang="en-US" altLang="ko-KR" smtClean="0"/>
              <a:t>   -content</a:t>
            </a:r>
            <a:r>
              <a:rPr lang="ko-KR" altLang="en-US" smtClean="0"/>
              <a:t>를 어떻게 보여 줄 것인가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EA9F5-D90D-40B4-89E7-E6E12A63A6CC}" type="slidenum">
              <a:rPr lang="en-US" altLang="ko-KR" smtClean="0"/>
              <a:pPr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XSL </a:t>
            </a:r>
            <a:r>
              <a:rPr lang="ko-KR" altLang="en-US" dirty="0" smtClean="0"/>
              <a:t>의 실제</a:t>
            </a:r>
            <a:endParaRPr lang="en-US" altLang="ko-KR" dirty="0"/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9A99-CCF7-4D77-825B-A7BC38E34E58}" type="slidenum">
              <a:rPr lang="en-US" altLang="ko-KR" smtClean="0"/>
              <a:pPr/>
              <a:t>34</a:t>
            </a:fld>
            <a:endParaRPr lang="en-US" altLang="ko-KR"/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371600" y="1772816"/>
            <a:ext cx="5629275" cy="4041775"/>
          </a:xfrm>
          <a:prstGeom prst="rect">
            <a:avLst/>
          </a:prstGeom>
          <a:noFill/>
          <a:ln w="381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600">
                <a:latin typeface="Tahoma" pitchFamily="34" charset="0"/>
              </a:rPr>
              <a:t>&lt;?xml version=“1.0”?&gt;</a:t>
            </a:r>
          </a:p>
          <a:p>
            <a:r>
              <a:rPr lang="en-US" altLang="ko-KR" sz="1600">
                <a:latin typeface="Tahoma" pitchFamily="34" charset="0"/>
              </a:rPr>
              <a:t>&lt;xsl:stylesheet xmlns:xsl=“http://www.w3.org/TR/WD-xsl”?</a:t>
            </a:r>
          </a:p>
          <a:p>
            <a:r>
              <a:rPr lang="en-US" altLang="ko-KR" sz="1600">
                <a:latin typeface="Tahoma" pitchFamily="34" charset="0"/>
              </a:rPr>
              <a:t>&lt;xsl:template match=“/”&gt;</a:t>
            </a:r>
          </a:p>
          <a:p>
            <a:r>
              <a:rPr lang="en-US" altLang="ko-KR" sz="1600">
                <a:latin typeface="Tahoma" pitchFamily="34" charset="0"/>
              </a:rPr>
              <a:t>   &lt;html&gt;</a:t>
            </a:r>
          </a:p>
          <a:p>
            <a:r>
              <a:rPr lang="en-US" altLang="ko-KR" sz="1600">
                <a:latin typeface="Tahoma" pitchFamily="34" charset="0"/>
              </a:rPr>
              <a:t>         &lt;xsl:apply-templates/&gt;</a:t>
            </a:r>
          </a:p>
          <a:p>
            <a:r>
              <a:rPr lang="en-US" altLang="ko-KR" sz="1600">
                <a:latin typeface="Tahoma" pitchFamily="34" charset="0"/>
              </a:rPr>
              <a:t>   &lt;/html&gt;</a:t>
            </a:r>
          </a:p>
          <a:p>
            <a:r>
              <a:rPr lang="en-US" altLang="ko-KR" sz="1600">
                <a:latin typeface="Tahoma" pitchFamily="34" charset="0"/>
              </a:rPr>
              <a:t>&lt;/xsl:template&gt;</a:t>
            </a:r>
          </a:p>
          <a:p>
            <a:r>
              <a:rPr lang="en-US" altLang="ko-KR" sz="1600">
                <a:latin typeface="Tahoma" pitchFamily="34" charset="0"/>
              </a:rPr>
              <a:t>&lt;xsl:template match=“PERIODIC_TABLE”&gt;</a:t>
            </a:r>
          </a:p>
          <a:p>
            <a:r>
              <a:rPr lang="en-US" altLang="ko-KR" sz="1600">
                <a:latin typeface="Tahoma" pitchFamily="34" charset="0"/>
              </a:rPr>
              <a:t>    &lt;xsl:apply-templates/&gt;</a:t>
            </a:r>
          </a:p>
          <a:p>
            <a:r>
              <a:rPr lang="en-US" altLang="ko-KR" sz="1600">
                <a:latin typeface="Tahoma" pitchFamily="34" charset="0"/>
              </a:rPr>
              <a:t>&lt;/xsl:template&gt;</a:t>
            </a:r>
          </a:p>
          <a:p>
            <a:r>
              <a:rPr lang="en-US" altLang="ko-KR" sz="1600">
                <a:latin typeface="Tahoma" pitchFamily="34" charset="0"/>
              </a:rPr>
              <a:t>&lt;xsl:template match=“ATOM”&gt;</a:t>
            </a:r>
          </a:p>
          <a:p>
            <a:r>
              <a:rPr lang="en-US" altLang="ko-KR" sz="1600">
                <a:latin typeface="Tahoma" pitchFamily="34" charset="0"/>
              </a:rPr>
              <a:t>    &lt;p&gt;</a:t>
            </a:r>
          </a:p>
          <a:p>
            <a:r>
              <a:rPr lang="en-US" altLang="ko-KR" sz="1600">
                <a:latin typeface="Tahoma" pitchFamily="34" charset="0"/>
              </a:rPr>
              <a:t>           &lt;xsl:value-of select=“.”/&gt;</a:t>
            </a:r>
          </a:p>
          <a:p>
            <a:r>
              <a:rPr lang="en-US" altLang="ko-KR" sz="1600">
                <a:latin typeface="Tahoma" pitchFamily="34" charset="0"/>
              </a:rPr>
              <a:t>    &lt;/p&gt;</a:t>
            </a:r>
          </a:p>
          <a:p>
            <a:r>
              <a:rPr lang="en-US" altLang="ko-KR" sz="1600">
                <a:latin typeface="Tahoma" pitchFamily="34" charset="0"/>
              </a:rPr>
              <a:t>&lt;/xsl:template&gt;</a:t>
            </a:r>
          </a:p>
          <a:p>
            <a:r>
              <a:rPr lang="en-US" altLang="ko-KR" sz="1600">
                <a:latin typeface="Tahoma" pitchFamily="34" charset="0"/>
              </a:rPr>
              <a:t>&lt;/xsl:stylesheet&gt;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7315200" y="5201816"/>
            <a:ext cx="1206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2000">
                <a:latin typeface="Tahoma" pitchFamily="34" charset="0"/>
              </a:rPr>
              <a:t> atom.xsl</a:t>
            </a:r>
            <a:endParaRPr lang="en-US" altLang="ko-KR">
              <a:latin typeface="Times New Roman" pitchFamily="18" charset="0"/>
            </a:endParaRPr>
          </a:p>
        </p:txBody>
      </p:sp>
      <p:sp>
        <p:nvSpPr>
          <p:cNvPr id="44039" name="AutoShape 7"/>
          <p:cNvSpPr>
            <a:spLocks noChangeArrowheads="1"/>
          </p:cNvSpPr>
          <p:nvPr/>
        </p:nvSpPr>
        <p:spPr bwMode="auto">
          <a:xfrm>
            <a:off x="7239000" y="5278016"/>
            <a:ext cx="152400" cy="3048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XSL </a:t>
            </a:r>
            <a:r>
              <a:rPr lang="ko-KR" altLang="en-US" dirty="0" smtClean="0"/>
              <a:t>의 실제</a:t>
            </a:r>
            <a:endParaRPr lang="en-US" altLang="ko-KR" dirty="0"/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D1C-4E2F-47A3-BBFA-0E608CF86786}" type="slidenum">
              <a:rPr lang="en-US" altLang="ko-KR" smtClean="0"/>
              <a:pPr/>
              <a:t>35</a:t>
            </a:fld>
            <a:endParaRPr lang="en-US" altLang="ko-KR"/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838200" y="1556792"/>
            <a:ext cx="6135688" cy="4530725"/>
          </a:xfrm>
          <a:prstGeom prst="rect">
            <a:avLst/>
          </a:prstGeom>
          <a:noFill/>
          <a:ln w="38100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600">
                <a:latin typeface="Tahoma" pitchFamily="34" charset="0"/>
              </a:rPr>
              <a:t>&lt;?xml version=“1.0”?&gt;</a:t>
            </a:r>
          </a:p>
          <a:p>
            <a:r>
              <a:rPr lang="en-US" altLang="ko-KR" sz="1600">
                <a:latin typeface="Tahoma" pitchFamily="34" charset="0"/>
              </a:rPr>
              <a:t>&lt;?xml-stylesheet type=“text/xsl” href=“atom.xsl”?&gt;</a:t>
            </a:r>
          </a:p>
          <a:p>
            <a:r>
              <a:rPr lang="en-US" altLang="ko-KR" sz="1600">
                <a:latin typeface="Tahoma" pitchFamily="34" charset="0"/>
              </a:rPr>
              <a:t>&lt;PERIODIC_TABLE&gt;</a:t>
            </a:r>
          </a:p>
          <a:p>
            <a:endParaRPr lang="en-US" altLang="ko-KR" sz="1600">
              <a:latin typeface="Tahoma" pitchFamily="34" charset="0"/>
            </a:endParaRPr>
          </a:p>
          <a:p>
            <a:r>
              <a:rPr lang="en-US" altLang="ko-KR" sz="1600">
                <a:latin typeface="Tahoma" pitchFamily="34" charset="0"/>
              </a:rPr>
              <a:t>&lt;ATOM PHASE=“GAS”&gt;</a:t>
            </a:r>
          </a:p>
          <a:p>
            <a:r>
              <a:rPr lang="en-US" altLang="ko-KR" sz="1600">
                <a:latin typeface="Tahoma" pitchFamily="34" charset="0"/>
              </a:rPr>
              <a:t>     &lt;NAME&gt;Hydrogen&lt;/Name&gt;</a:t>
            </a:r>
          </a:p>
          <a:p>
            <a:r>
              <a:rPr lang="en-US" altLang="ko-KR" sz="1600">
                <a:latin typeface="Tahoma" pitchFamily="34" charset="0"/>
              </a:rPr>
              <a:t>     &lt;SYMBOL&gt;H&lt;/SYMBOL&gt;</a:t>
            </a:r>
          </a:p>
          <a:p>
            <a:r>
              <a:rPr lang="en-US" altLang="ko-KR" sz="1600">
                <a:latin typeface="Tahoma" pitchFamily="34" charset="0"/>
              </a:rPr>
              <a:t>     &lt;ATOMIC NUMBER&gt;1&lt;/ATOMIC NUMBER&gt;</a:t>
            </a:r>
          </a:p>
          <a:p>
            <a:r>
              <a:rPr lang="en-US" altLang="ko-KR" sz="1600">
                <a:latin typeface="Tahoma" pitchFamily="34" charset="0"/>
              </a:rPr>
              <a:t>     &lt;BOILING_POINT UNIT=“Kelvin”&gt;20.28&lt;/BOILING_POINT”&gt;</a:t>
            </a:r>
          </a:p>
          <a:p>
            <a:r>
              <a:rPr lang="en-US" altLang="ko-KR" sz="1600">
                <a:latin typeface="Tahoma" pitchFamily="34" charset="0"/>
              </a:rPr>
              <a:t>     ………..</a:t>
            </a:r>
          </a:p>
          <a:p>
            <a:r>
              <a:rPr lang="en-US" altLang="ko-KR" sz="1600">
                <a:latin typeface="Tahoma" pitchFamily="34" charset="0"/>
              </a:rPr>
              <a:t>&lt;/ATOM&gt;</a:t>
            </a:r>
          </a:p>
          <a:p>
            <a:endParaRPr lang="en-US" altLang="ko-KR" sz="1600">
              <a:latin typeface="Tahoma" pitchFamily="34" charset="0"/>
            </a:endParaRPr>
          </a:p>
          <a:p>
            <a:r>
              <a:rPr lang="en-US" altLang="ko-KR" sz="1600">
                <a:latin typeface="Tahoma" pitchFamily="34" charset="0"/>
              </a:rPr>
              <a:t>&lt;ATOM PHASE=“GAS”&gt;</a:t>
            </a:r>
          </a:p>
          <a:p>
            <a:r>
              <a:rPr lang="en-US" altLang="ko-KR" sz="1600">
                <a:latin typeface="Tahoma" pitchFamily="34" charset="0"/>
              </a:rPr>
              <a:t>     &lt;NAME&gt;Helium&lt;/NAME&gt;</a:t>
            </a:r>
          </a:p>
          <a:p>
            <a:r>
              <a:rPr lang="en-US" altLang="ko-KR" sz="1600">
                <a:latin typeface="Tahoma" pitchFamily="34" charset="0"/>
              </a:rPr>
              <a:t>     ……………………</a:t>
            </a:r>
          </a:p>
          <a:p>
            <a:r>
              <a:rPr lang="en-US" altLang="ko-KR" sz="1600">
                <a:latin typeface="Tahoma" pitchFamily="34" charset="0"/>
              </a:rPr>
              <a:t>&lt;/ATOM&gt;</a:t>
            </a:r>
          </a:p>
          <a:p>
            <a:endParaRPr lang="en-US" altLang="ko-KR" sz="1600">
              <a:latin typeface="Tahoma" pitchFamily="34" charset="0"/>
            </a:endParaRPr>
          </a:p>
          <a:p>
            <a:r>
              <a:rPr lang="en-US" altLang="ko-KR" sz="1600">
                <a:latin typeface="Tahoma" pitchFamily="34" charset="0"/>
              </a:rPr>
              <a:t>&lt;/PERIODIC_TABLE&gt;</a:t>
            </a: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7391400" y="4985792"/>
            <a:ext cx="12461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2000">
                <a:latin typeface="Tahoma" pitchFamily="34" charset="0"/>
              </a:rPr>
              <a:t>Atom.xml</a:t>
            </a:r>
            <a:endParaRPr lang="en-US" altLang="ko-KR">
              <a:latin typeface="Times New Roman" pitchFamily="18" charset="0"/>
            </a:endParaRPr>
          </a:p>
        </p:txBody>
      </p:sp>
      <p:sp>
        <p:nvSpPr>
          <p:cNvPr id="45063" name="AutoShape 7"/>
          <p:cNvSpPr>
            <a:spLocks noChangeArrowheads="1"/>
          </p:cNvSpPr>
          <p:nvPr/>
        </p:nvSpPr>
        <p:spPr bwMode="auto">
          <a:xfrm>
            <a:off x="7239000" y="5061992"/>
            <a:ext cx="152400" cy="3048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XSL </a:t>
            </a:r>
            <a:r>
              <a:rPr lang="ko-KR" altLang="en-US" dirty="0" smtClean="0"/>
              <a:t>의 실제</a:t>
            </a:r>
            <a:endParaRPr lang="en-US" altLang="ko-KR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atom.xml</a:t>
            </a:r>
            <a:r>
              <a:rPr lang="ko-KR" altLang="en-US" smtClean="0"/>
              <a:t>에 </a:t>
            </a:r>
            <a:r>
              <a:rPr lang="en-US" altLang="ko-KR" smtClean="0"/>
              <a:t>atom.xsl</a:t>
            </a:r>
            <a:r>
              <a:rPr lang="ko-KR" altLang="en-US" smtClean="0"/>
              <a:t>을 적용시킨 예</a:t>
            </a: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925EC-A2B1-4C87-B968-EE1E11D3D267}" type="slidenum">
              <a:rPr lang="en-US" altLang="ko-KR" smtClean="0"/>
              <a:pPr/>
              <a:t>36</a:t>
            </a:fld>
            <a:endParaRPr lang="en-US" altLang="ko-KR"/>
          </a:p>
        </p:txBody>
      </p:sp>
      <p:pic>
        <p:nvPicPr>
          <p:cNvPr id="46085" name="Picture 5" descr="C:\WINDOWS\바탕 화면\Image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348880"/>
            <a:ext cx="5399088" cy="3276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XLL</a:t>
            </a:r>
            <a:endParaRPr lang="en-US" altLang="ko-KR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eXtensible Linking Language</a:t>
            </a:r>
          </a:p>
          <a:p>
            <a:r>
              <a:rPr lang="en-US" altLang="ko-KR" smtClean="0"/>
              <a:t>Xlink</a:t>
            </a:r>
            <a:r>
              <a:rPr lang="ko-KR" altLang="en-US" smtClean="0"/>
              <a:t>라는 일반적인 </a:t>
            </a:r>
            <a:r>
              <a:rPr lang="en-US" altLang="ko-KR" smtClean="0"/>
              <a:t>hypertext link</a:t>
            </a:r>
            <a:r>
              <a:rPr lang="ko-KR" altLang="en-US" smtClean="0"/>
              <a:t>를 정의</a:t>
            </a: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2A9C6-EB22-4C52-94FB-EA8810453D58}" type="slidenum">
              <a:rPr lang="en-US" altLang="ko-KR" smtClean="0"/>
              <a:pPr/>
              <a:t>37</a:t>
            </a:fld>
            <a:endParaRPr lang="en-US" altLang="ko-KR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685800" y="2492896"/>
            <a:ext cx="7851775" cy="434975"/>
          </a:xfrm>
          <a:prstGeom prst="rect">
            <a:avLst/>
          </a:prstGeom>
          <a:noFill/>
          <a:ln w="38100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2000">
                <a:latin typeface="Tahoma" pitchFamily="34" charset="0"/>
              </a:rPr>
              <a:t>&lt;footnote xlink:form=“simple” href=“footnote7.xml”&gt;7&lt;/footnote&gt;</a:t>
            </a:r>
            <a:endParaRPr lang="en-US" altLang="ko-KR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  <a:endParaRPr lang="en-US" altLang="ko-KR" dirty="0"/>
          </a:p>
        </p:txBody>
      </p:sp>
      <p:sp>
        <p:nvSpPr>
          <p:cNvPr id="4915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Meta-mark-up</a:t>
            </a:r>
            <a:r>
              <a:rPr lang="ko-KR" altLang="en-US" dirty="0" smtClean="0"/>
              <a:t>언어로서의 </a:t>
            </a:r>
            <a:r>
              <a:rPr lang="en-US" altLang="ko-KR" dirty="0" smtClean="0"/>
              <a:t>application</a:t>
            </a:r>
          </a:p>
          <a:p>
            <a:r>
              <a:rPr lang="en-US" altLang="ko-KR" dirty="0" smtClean="0"/>
              <a:t>XML for XML : XML</a:t>
            </a:r>
            <a:r>
              <a:rPr lang="ko-KR" altLang="en-US" dirty="0" smtClean="0"/>
              <a:t>을 위한 </a:t>
            </a:r>
            <a:r>
              <a:rPr lang="en-US" altLang="ko-KR" dirty="0" smtClean="0"/>
              <a:t>XML application</a:t>
            </a:r>
          </a:p>
          <a:p>
            <a:r>
              <a:rPr lang="en-US" altLang="ko-KR" u="sng" dirty="0" smtClean="0"/>
              <a:t>Data exchange applications</a:t>
            </a:r>
            <a:endParaRPr lang="en-US" altLang="ko-KR" u="sng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B46-3284-4EFD-9584-AA8E17121F74}" type="slidenum">
              <a:rPr lang="en-US" altLang="ko-KR" smtClean="0"/>
              <a:pPr/>
              <a:t>38</a:t>
            </a:fld>
            <a:endParaRPr lang="en-US" altLang="ko-K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Data Exchange application</a:t>
            </a: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XML</a:t>
            </a:r>
            <a:r>
              <a:rPr lang="ko-KR" altLang="en-US" dirty="0" smtClean="0"/>
              <a:t>은 두 시스템 또는 </a:t>
            </a:r>
            <a:r>
              <a:rPr lang="en-US" altLang="ko-KR" dirty="0" smtClean="0"/>
              <a:t>application</a:t>
            </a:r>
            <a:r>
              <a:rPr lang="ko-KR" altLang="en-US" dirty="0" smtClean="0"/>
              <a:t>간의 </a:t>
            </a:r>
            <a:r>
              <a:rPr lang="en-US" altLang="ko-KR" dirty="0" smtClean="0"/>
              <a:t>exchange format</a:t>
            </a:r>
            <a:r>
              <a:rPr lang="ko-KR" altLang="en-US" dirty="0" smtClean="0"/>
              <a:t>역할을 할 수 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EDI , RDF , MCF …</a:t>
            </a:r>
          </a:p>
          <a:p>
            <a:r>
              <a:rPr lang="en-US" altLang="ko-KR" dirty="0" smtClean="0"/>
              <a:t>Vender</a:t>
            </a:r>
            <a:r>
              <a:rPr lang="ko-KR" altLang="en-US" dirty="0" smtClean="0"/>
              <a:t>들의 </a:t>
            </a:r>
            <a:r>
              <a:rPr lang="en-US" altLang="ko-KR" dirty="0" smtClean="0"/>
              <a:t>XML application</a:t>
            </a:r>
          </a:p>
          <a:p>
            <a:r>
              <a:rPr lang="ko-KR" altLang="en-US" dirty="0" smtClean="0"/>
              <a:t>용이한 </a:t>
            </a:r>
            <a:r>
              <a:rPr lang="en-US" altLang="ko-KR" dirty="0" smtClean="0"/>
              <a:t>data exchange</a:t>
            </a:r>
            <a:r>
              <a:rPr lang="ko-KR" altLang="en-US" dirty="0" smtClean="0"/>
              <a:t>를 위해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XML</a:t>
            </a:r>
            <a:r>
              <a:rPr lang="ko-KR" altLang="en-US" dirty="0" smtClean="0"/>
              <a:t>로 가공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B4E6-CBAE-45A1-8F91-26330B650109}" type="slidenum">
              <a:rPr lang="en-US" altLang="ko-KR" smtClean="0"/>
              <a:pPr/>
              <a:t>39</a:t>
            </a:fld>
            <a:endParaRPr lang="en-US" altLang="ko-K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Data Exchange application </a:t>
            </a:r>
            <a:endParaRPr lang="en-US" altLang="ko-KR"/>
          </a:p>
        </p:txBody>
      </p:sp>
      <p:sp>
        <p:nvSpPr>
          <p:cNvPr id="42" name="내용 개체 틀 4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RDB system</a:t>
            </a:r>
            <a:r>
              <a:rPr lang="ko-KR" altLang="en-US" dirty="0" smtClean="0"/>
              <a:t>사이의 </a:t>
            </a:r>
            <a:r>
              <a:rPr lang="en-US" altLang="ko-KR" dirty="0" smtClean="0"/>
              <a:t>data exchange format</a:t>
            </a:r>
          </a:p>
          <a:p>
            <a:pPr lvl="1"/>
            <a:r>
              <a:rPr lang="en-US" altLang="ko-KR" dirty="0" smtClean="0"/>
              <a:t>XML tag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transfer</a:t>
            </a:r>
            <a:r>
              <a:rPr lang="ko-KR" altLang="en-US" dirty="0" smtClean="0"/>
              <a:t>동안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를 감싸는 </a:t>
            </a:r>
            <a:r>
              <a:rPr lang="en-US" altLang="ko-KR" dirty="0" smtClean="0"/>
              <a:t>wrapper</a:t>
            </a:r>
            <a:r>
              <a:rPr lang="ko-KR" altLang="en-US" dirty="0" smtClean="0"/>
              <a:t>역할을 한다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38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2619-7D64-41B3-877E-898015010F74}" type="slidenum">
              <a:rPr lang="en-US" altLang="ko-KR" smtClean="0"/>
              <a:pPr/>
              <a:t>40</a:t>
            </a:fld>
            <a:endParaRPr lang="en-US" altLang="ko-KR"/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1093912" y="2582887"/>
            <a:ext cx="2057400" cy="2667000"/>
          </a:xfrm>
          <a:prstGeom prst="rect">
            <a:avLst/>
          </a:prstGeom>
          <a:solidFill>
            <a:srgbClr val="99C7D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1170112" y="2735287"/>
            <a:ext cx="1828800" cy="838200"/>
          </a:xfrm>
          <a:prstGeom prst="rect">
            <a:avLst/>
          </a:prstGeom>
          <a:solidFill>
            <a:srgbClr val="C8EB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1551112" y="3725887"/>
            <a:ext cx="1219200" cy="1371600"/>
          </a:xfrm>
          <a:prstGeom prst="rect">
            <a:avLst/>
          </a:prstGeom>
          <a:solidFill>
            <a:srgbClr val="C8EB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1246312" y="2811487"/>
            <a:ext cx="9906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1246312" y="3192487"/>
            <a:ext cx="9906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2313112" y="2811487"/>
            <a:ext cx="6096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/>
            <a:r>
              <a:rPr kumimoji="1" lang="en-US" altLang="ko-KR" sz="1800"/>
              <a:t>332</a:t>
            </a:r>
          </a:p>
        </p:txBody>
      </p:sp>
      <p:sp>
        <p:nvSpPr>
          <p:cNvPr id="48139" name="Rectangle 11"/>
          <p:cNvSpPr>
            <a:spLocks noChangeArrowheads="1"/>
          </p:cNvSpPr>
          <p:nvPr/>
        </p:nvSpPr>
        <p:spPr bwMode="auto">
          <a:xfrm>
            <a:off x="2313112" y="3192487"/>
            <a:ext cx="6096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/>
            <a:r>
              <a:rPr kumimoji="1" lang="en-US" altLang="ko-KR" sz="1800"/>
              <a:t>567</a:t>
            </a:r>
            <a:endParaRPr kumimoji="1" lang="en-US" altLang="ko-KR"/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1627312" y="3802087"/>
            <a:ext cx="609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41" name="Rectangle 13"/>
          <p:cNvSpPr>
            <a:spLocks noChangeArrowheads="1"/>
          </p:cNvSpPr>
          <p:nvPr/>
        </p:nvSpPr>
        <p:spPr bwMode="auto">
          <a:xfrm>
            <a:off x="1627312" y="4106887"/>
            <a:ext cx="609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42" name="Rectangle 14"/>
          <p:cNvSpPr>
            <a:spLocks noChangeArrowheads="1"/>
          </p:cNvSpPr>
          <p:nvPr/>
        </p:nvSpPr>
        <p:spPr bwMode="auto">
          <a:xfrm>
            <a:off x="1627312" y="4411687"/>
            <a:ext cx="609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43" name="Rectangle 15"/>
          <p:cNvSpPr>
            <a:spLocks noChangeArrowheads="1"/>
          </p:cNvSpPr>
          <p:nvPr/>
        </p:nvSpPr>
        <p:spPr bwMode="auto">
          <a:xfrm>
            <a:off x="2313112" y="3802087"/>
            <a:ext cx="3810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/>
            <a:r>
              <a:rPr kumimoji="1" lang="en-US" altLang="ko-KR" sz="1800"/>
              <a:t>332</a:t>
            </a:r>
            <a:endParaRPr kumimoji="1" lang="en-US" altLang="ko-KR"/>
          </a:p>
        </p:txBody>
      </p:sp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2313112" y="4106887"/>
            <a:ext cx="3810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/>
            <a:r>
              <a:rPr kumimoji="1" lang="en-US" altLang="ko-KR" sz="1800"/>
              <a:t>332</a:t>
            </a:r>
            <a:endParaRPr kumimoji="1" lang="en-US" altLang="ko-KR"/>
          </a:p>
        </p:txBody>
      </p:sp>
      <p:sp>
        <p:nvSpPr>
          <p:cNvPr id="48145" name="Rectangle 17"/>
          <p:cNvSpPr>
            <a:spLocks noChangeArrowheads="1"/>
          </p:cNvSpPr>
          <p:nvPr/>
        </p:nvSpPr>
        <p:spPr bwMode="auto">
          <a:xfrm>
            <a:off x="2313112" y="4411687"/>
            <a:ext cx="3810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/>
            <a:r>
              <a:rPr kumimoji="1" lang="en-US" altLang="ko-KR" sz="1800"/>
              <a:t>912</a:t>
            </a:r>
            <a:endParaRPr kumimoji="1" lang="en-US" altLang="ko-KR"/>
          </a:p>
        </p:txBody>
      </p:sp>
      <p:sp>
        <p:nvSpPr>
          <p:cNvPr id="48146" name="Line 18"/>
          <p:cNvSpPr>
            <a:spLocks noChangeShapeType="1"/>
          </p:cNvSpPr>
          <p:nvPr/>
        </p:nvSpPr>
        <p:spPr bwMode="auto">
          <a:xfrm>
            <a:off x="1627312" y="471648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47" name="Line 19"/>
          <p:cNvSpPr>
            <a:spLocks noChangeShapeType="1"/>
          </p:cNvSpPr>
          <p:nvPr/>
        </p:nvSpPr>
        <p:spPr bwMode="auto">
          <a:xfrm>
            <a:off x="2313112" y="4716487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48" name="Line 20"/>
          <p:cNvSpPr>
            <a:spLocks noChangeShapeType="1"/>
          </p:cNvSpPr>
          <p:nvPr/>
        </p:nvSpPr>
        <p:spPr bwMode="auto">
          <a:xfrm>
            <a:off x="1627312" y="471648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49" name="Line 21"/>
          <p:cNvSpPr>
            <a:spLocks noChangeShapeType="1"/>
          </p:cNvSpPr>
          <p:nvPr/>
        </p:nvSpPr>
        <p:spPr bwMode="auto">
          <a:xfrm>
            <a:off x="2313112" y="471648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50" name="Text Box 22"/>
          <p:cNvSpPr txBox="1">
            <a:spLocks noChangeArrowheads="1"/>
          </p:cNvSpPr>
          <p:nvPr/>
        </p:nvSpPr>
        <p:spPr bwMode="auto">
          <a:xfrm>
            <a:off x="1246312" y="2811487"/>
            <a:ext cx="946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800" b="1"/>
              <a:t>account</a:t>
            </a:r>
            <a:endParaRPr kumimoji="1" lang="en-US" altLang="ko-KR"/>
          </a:p>
        </p:txBody>
      </p:sp>
      <p:sp>
        <p:nvSpPr>
          <p:cNvPr id="48151" name="Text Box 23"/>
          <p:cNvSpPr txBox="1">
            <a:spLocks noChangeArrowheads="1"/>
          </p:cNvSpPr>
          <p:nvPr/>
        </p:nvSpPr>
        <p:spPr bwMode="auto">
          <a:xfrm>
            <a:off x="1246312" y="3192487"/>
            <a:ext cx="704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800" b="1"/>
              <a:t>R&amp;D</a:t>
            </a:r>
            <a:endParaRPr kumimoji="1" lang="en-US" altLang="ko-KR"/>
          </a:p>
        </p:txBody>
      </p:sp>
      <p:sp>
        <p:nvSpPr>
          <p:cNvPr id="48152" name="Text Box 24"/>
          <p:cNvSpPr txBox="1">
            <a:spLocks noChangeArrowheads="1"/>
          </p:cNvSpPr>
          <p:nvPr/>
        </p:nvSpPr>
        <p:spPr bwMode="auto">
          <a:xfrm>
            <a:off x="1627312" y="3725887"/>
            <a:ext cx="704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800" b="1"/>
              <a:t>Peter</a:t>
            </a:r>
            <a:endParaRPr kumimoji="1" lang="en-US" altLang="ko-KR"/>
          </a:p>
        </p:txBody>
      </p:sp>
      <p:sp>
        <p:nvSpPr>
          <p:cNvPr id="48153" name="Text Box 25"/>
          <p:cNvSpPr txBox="1">
            <a:spLocks noChangeArrowheads="1"/>
          </p:cNvSpPr>
          <p:nvPr/>
        </p:nvSpPr>
        <p:spPr bwMode="auto">
          <a:xfrm>
            <a:off x="1627312" y="4030687"/>
            <a:ext cx="552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800" b="1"/>
              <a:t>Jim</a:t>
            </a:r>
            <a:endParaRPr kumimoji="1" lang="en-US" altLang="ko-KR"/>
          </a:p>
        </p:txBody>
      </p:sp>
      <p:sp>
        <p:nvSpPr>
          <p:cNvPr id="48154" name="Text Box 26"/>
          <p:cNvSpPr txBox="1">
            <a:spLocks noChangeArrowheads="1"/>
          </p:cNvSpPr>
          <p:nvPr/>
        </p:nvSpPr>
        <p:spPr bwMode="auto">
          <a:xfrm>
            <a:off x="1703512" y="4335487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800" b="1"/>
              <a:t>Sue</a:t>
            </a:r>
            <a:endParaRPr kumimoji="1" lang="en-US" altLang="ko-KR"/>
          </a:p>
        </p:txBody>
      </p:sp>
      <p:sp>
        <p:nvSpPr>
          <p:cNvPr id="48155" name="Text Box 27"/>
          <p:cNvSpPr txBox="1">
            <a:spLocks noChangeArrowheads="1"/>
          </p:cNvSpPr>
          <p:nvPr/>
        </p:nvSpPr>
        <p:spPr bwMode="auto">
          <a:xfrm>
            <a:off x="179512" y="4792687"/>
            <a:ext cx="811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/>
              <a:t>RDB</a:t>
            </a:r>
          </a:p>
        </p:txBody>
      </p:sp>
      <p:sp>
        <p:nvSpPr>
          <p:cNvPr id="48156" name="AutoShape 28"/>
          <p:cNvSpPr>
            <a:spLocks noChangeArrowheads="1"/>
          </p:cNvSpPr>
          <p:nvPr/>
        </p:nvSpPr>
        <p:spPr bwMode="auto">
          <a:xfrm>
            <a:off x="6808912" y="2735287"/>
            <a:ext cx="838200" cy="609600"/>
          </a:xfrm>
          <a:prstGeom prst="can">
            <a:avLst>
              <a:gd name="adj" fmla="val 25000"/>
            </a:avLst>
          </a:prstGeom>
          <a:solidFill>
            <a:srgbClr val="4090B0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57" name="Text Box 29"/>
          <p:cNvSpPr txBox="1">
            <a:spLocks noChangeArrowheads="1"/>
          </p:cNvSpPr>
          <p:nvPr/>
        </p:nvSpPr>
        <p:spPr bwMode="auto">
          <a:xfrm>
            <a:off x="7799512" y="2811487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/>
              <a:t>DB</a:t>
            </a:r>
          </a:p>
        </p:txBody>
      </p:sp>
      <p:sp>
        <p:nvSpPr>
          <p:cNvPr id="48158" name="Rectangle 30"/>
          <p:cNvSpPr>
            <a:spLocks noChangeArrowheads="1"/>
          </p:cNvSpPr>
          <p:nvPr/>
        </p:nvSpPr>
        <p:spPr bwMode="auto">
          <a:xfrm>
            <a:off x="6656512" y="3725887"/>
            <a:ext cx="1752600" cy="2057400"/>
          </a:xfrm>
          <a:prstGeom prst="rect">
            <a:avLst/>
          </a:prstGeom>
          <a:solidFill>
            <a:srgbClr val="99C7D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59" name="AutoShape 31"/>
          <p:cNvSpPr>
            <a:spLocks noChangeArrowheads="1"/>
          </p:cNvSpPr>
          <p:nvPr/>
        </p:nvSpPr>
        <p:spPr bwMode="auto">
          <a:xfrm>
            <a:off x="6732712" y="3802087"/>
            <a:ext cx="1600200" cy="1905000"/>
          </a:xfrm>
          <a:prstGeom prst="roundRect">
            <a:avLst>
              <a:gd name="adj" fmla="val 16667"/>
            </a:avLst>
          </a:prstGeom>
          <a:solidFill>
            <a:srgbClr val="E3F4F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/>
            <a:r>
              <a:rPr kumimoji="1" lang="en-US" altLang="ko-KR" sz="1800"/>
              <a:t>332</a:t>
            </a:r>
          </a:p>
          <a:p>
            <a:pPr eaLnBrk="1" latinLnBrk="1" hangingPunct="1"/>
            <a:r>
              <a:rPr kumimoji="1" lang="en-US" altLang="ko-KR" sz="1800"/>
              <a:t>account</a:t>
            </a:r>
          </a:p>
          <a:p>
            <a:pPr eaLnBrk="1" latinLnBrk="1" hangingPunct="1"/>
            <a:r>
              <a:rPr kumimoji="1" lang="en-US" altLang="ko-KR" sz="1800"/>
              <a:t>peter,Jim</a:t>
            </a:r>
          </a:p>
          <a:p>
            <a:pPr eaLnBrk="1" latinLnBrk="1" hangingPunct="1"/>
            <a:endParaRPr kumimoji="1" lang="en-US" altLang="ko-KR" sz="1800"/>
          </a:p>
          <a:p>
            <a:pPr eaLnBrk="1" latinLnBrk="1" hangingPunct="1"/>
            <a:r>
              <a:rPr kumimoji="1" lang="en-US" altLang="ko-KR" sz="1800"/>
              <a:t>567</a:t>
            </a:r>
          </a:p>
          <a:p>
            <a:pPr eaLnBrk="1" latinLnBrk="1" hangingPunct="1"/>
            <a:r>
              <a:rPr kumimoji="1" lang="en-US" altLang="ko-KR" sz="1800"/>
              <a:t>R&amp;D</a:t>
            </a:r>
            <a:endParaRPr kumimoji="1" lang="en-US" altLang="ko-KR"/>
          </a:p>
        </p:txBody>
      </p:sp>
      <p:sp>
        <p:nvSpPr>
          <p:cNvPr id="48160" name="Text Box 32"/>
          <p:cNvSpPr txBox="1">
            <a:spLocks noChangeArrowheads="1"/>
          </p:cNvSpPr>
          <p:nvPr/>
        </p:nvSpPr>
        <p:spPr bwMode="auto">
          <a:xfrm>
            <a:off x="3608512" y="3040087"/>
            <a:ext cx="2478088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1600"/>
              <a:t>&lt;telephone number=</a:t>
            </a:r>
            <a:r>
              <a:rPr kumimoji="1" lang="en-US" altLang="ko-KR" sz="1600">
                <a:latin typeface="Times New Roman"/>
              </a:rPr>
              <a:t>“</a:t>
            </a:r>
            <a:r>
              <a:rPr kumimoji="1" lang="en-US" altLang="ko-KR" sz="1600"/>
              <a:t>332</a:t>
            </a:r>
            <a:r>
              <a:rPr kumimoji="1" lang="en-US" altLang="ko-KR" sz="1600">
                <a:latin typeface="Times New Roman"/>
              </a:rPr>
              <a:t>”</a:t>
            </a:r>
            <a:r>
              <a:rPr kumimoji="1" lang="en-US" altLang="ko-KR" sz="1600"/>
              <a:t>&gt;</a:t>
            </a:r>
          </a:p>
          <a:p>
            <a:pPr eaLnBrk="1" latinLnBrk="1" hangingPunct="1"/>
            <a:r>
              <a:rPr kumimoji="1" lang="en-US" altLang="ko-KR" sz="1600"/>
              <a:t>&lt;dept&gt;account&lt;/dept&gt;</a:t>
            </a:r>
          </a:p>
          <a:p>
            <a:pPr eaLnBrk="1" latinLnBrk="1" hangingPunct="1"/>
            <a:r>
              <a:rPr kumimoji="1" lang="en-US" altLang="ko-KR" sz="1600"/>
              <a:t>&lt;person&gt;Peter&lt;/person&gt;</a:t>
            </a:r>
          </a:p>
          <a:p>
            <a:pPr eaLnBrk="1" latinLnBrk="1" hangingPunct="1"/>
            <a:r>
              <a:rPr kumimoji="1" lang="en-US" altLang="ko-KR" sz="1600"/>
              <a:t>&lt;person&gt;Jim&lt;/person&gt;</a:t>
            </a:r>
          </a:p>
          <a:p>
            <a:pPr eaLnBrk="1" latinLnBrk="1" hangingPunct="1"/>
            <a:r>
              <a:rPr kumimoji="1" lang="en-US" altLang="ko-KR" sz="1600"/>
              <a:t>&lt;/telephone&gt;</a:t>
            </a:r>
            <a:endParaRPr kumimoji="1" lang="en-US" altLang="ko-KR"/>
          </a:p>
        </p:txBody>
      </p:sp>
      <p:sp>
        <p:nvSpPr>
          <p:cNvPr id="48161" name="Line 33"/>
          <p:cNvSpPr>
            <a:spLocks noChangeShapeType="1"/>
          </p:cNvSpPr>
          <p:nvPr/>
        </p:nvSpPr>
        <p:spPr bwMode="auto">
          <a:xfrm>
            <a:off x="2846512" y="2887687"/>
            <a:ext cx="2438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62" name="Line 34"/>
          <p:cNvSpPr>
            <a:spLocks noChangeShapeType="1"/>
          </p:cNvSpPr>
          <p:nvPr/>
        </p:nvSpPr>
        <p:spPr bwMode="auto">
          <a:xfrm flipV="1">
            <a:off x="2770312" y="3725887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63" name="Line 35"/>
          <p:cNvSpPr>
            <a:spLocks noChangeShapeType="1"/>
          </p:cNvSpPr>
          <p:nvPr/>
        </p:nvSpPr>
        <p:spPr bwMode="auto">
          <a:xfrm flipV="1">
            <a:off x="2694112" y="3725887"/>
            <a:ext cx="10668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64" name="Line 36"/>
          <p:cNvSpPr>
            <a:spLocks noChangeShapeType="1"/>
          </p:cNvSpPr>
          <p:nvPr/>
        </p:nvSpPr>
        <p:spPr bwMode="auto">
          <a:xfrm flipV="1">
            <a:off x="6123112" y="2963887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165" name="Line 37"/>
          <p:cNvSpPr>
            <a:spLocks noChangeShapeType="1"/>
          </p:cNvSpPr>
          <p:nvPr/>
        </p:nvSpPr>
        <p:spPr bwMode="auto">
          <a:xfrm>
            <a:off x="5742112" y="4106887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U IDB Lab.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 smtClean="0">
            <a:solidFill>
              <a:schemeClr val="tx1"/>
            </a:solidFill>
            <a:latin typeface="Corbel" pitchFamily="34" charset="0"/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orbe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</Template>
  <TotalTime>22</TotalTime>
  <Words>2536</Words>
  <Application>Microsoft Office PowerPoint</Application>
  <PresentationFormat>화면 슬라이드 쇼(4:3)</PresentationFormat>
  <Paragraphs>478</Paragraphs>
  <Slides>40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4" baseType="lpstr">
      <vt:lpstr>굴림</vt:lpstr>
      <vt:lpstr>Times New Roman</vt:lpstr>
      <vt:lpstr>Tahoma</vt:lpstr>
      <vt:lpstr>Wingdings</vt:lpstr>
      <vt:lpstr>Arial Black</vt:lpstr>
      <vt:lpstr>Arial</vt:lpstr>
      <vt:lpstr>Verdana</vt:lpstr>
      <vt:lpstr>Arial Unicode MS</vt:lpstr>
      <vt:lpstr>courier</vt:lpstr>
      <vt:lpstr>돋움</vt:lpstr>
      <vt:lpstr>바탕</vt:lpstr>
      <vt:lpstr>Symbol</vt:lpstr>
      <vt:lpstr>TIMES</vt:lpstr>
      <vt:lpstr>SNU IDB Lab.</vt:lpstr>
      <vt:lpstr>XML Applications</vt:lpstr>
      <vt:lpstr>Contents</vt:lpstr>
      <vt:lpstr>Xml application application as meta_mark_up language</vt:lpstr>
      <vt:lpstr>Xml application application as meta_mark_up language</vt:lpstr>
      <vt:lpstr>MathML </vt:lpstr>
      <vt:lpstr>Amaya - MathML Editor</vt:lpstr>
      <vt:lpstr>MusicML : example</vt:lpstr>
      <vt:lpstr>NewsML</vt:lpstr>
      <vt:lpstr>NewsML</vt:lpstr>
      <vt:lpstr>NewsML</vt:lpstr>
      <vt:lpstr>NewsML Explorer</vt:lpstr>
      <vt:lpstr>Portal Markup Language (PML)</vt:lpstr>
      <vt:lpstr>SpeechML</vt:lpstr>
      <vt:lpstr>User Interface Markup Language (UIML)</vt:lpstr>
      <vt:lpstr>Xforms</vt:lpstr>
      <vt:lpstr>Xforms</vt:lpstr>
      <vt:lpstr>Xforms</vt:lpstr>
      <vt:lpstr>Web Modeling Language (WebML)</vt:lpstr>
      <vt:lpstr>Web Modeling Language (WebML)</vt:lpstr>
      <vt:lpstr>Web Modeling Language (WebML)</vt:lpstr>
      <vt:lpstr>SMIL</vt:lpstr>
      <vt:lpstr>SMIL : Example</vt:lpstr>
      <vt:lpstr>MPEG-7 Standard</vt:lpstr>
      <vt:lpstr>MPEG-7 Standard</vt:lpstr>
      <vt:lpstr>MPEG-7 Standard</vt:lpstr>
      <vt:lpstr>MPEG-7 Standard</vt:lpstr>
      <vt:lpstr>MPEG-7 Standard</vt:lpstr>
      <vt:lpstr>JavaML</vt:lpstr>
      <vt:lpstr>JavaML : Example</vt:lpstr>
      <vt:lpstr>JavaML : Example</vt:lpstr>
      <vt:lpstr>Contents</vt:lpstr>
      <vt:lpstr>Xml application  XML을 위한 XML application</vt:lpstr>
      <vt:lpstr>XSL</vt:lpstr>
      <vt:lpstr>XSL 의 실제</vt:lpstr>
      <vt:lpstr>XSL 의 실제</vt:lpstr>
      <vt:lpstr>XSL 의 실제</vt:lpstr>
      <vt:lpstr>XLL</vt:lpstr>
      <vt:lpstr>Contents</vt:lpstr>
      <vt:lpstr>Data Exchange application</vt:lpstr>
      <vt:lpstr>Data Exchange application </vt:lpstr>
    </vt:vector>
  </TitlesOfParts>
  <Company>서울대학교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Application</dc:title>
  <dc:creator>christal</dc:creator>
  <cp:lastModifiedBy>idb</cp:lastModifiedBy>
  <cp:revision>19</cp:revision>
  <dcterms:created xsi:type="dcterms:W3CDTF">2000-11-26T01:05:20Z</dcterms:created>
  <dcterms:modified xsi:type="dcterms:W3CDTF">2011-06-22T05:54:28Z</dcterms:modified>
</cp:coreProperties>
</file>